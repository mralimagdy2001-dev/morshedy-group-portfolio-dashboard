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8" r:id="rId2"/>
    <p:sldId id="257" r:id="rId3"/>
    <p:sldId id="256" r:id="rId4"/>
    <p:sldId id="259" r:id="rId5"/>
    <p:sldId id="260" r:id="rId6"/>
    <p:sldId id="261" r:id="rId7"/>
    <p:sldId id="279" r:id="rId8"/>
    <p:sldId id="272" r:id="rId9"/>
    <p:sldId id="273" r:id="rId10"/>
    <p:sldId id="262" r:id="rId11"/>
    <p:sldId id="274" r:id="rId12"/>
    <p:sldId id="275" r:id="rId13"/>
    <p:sldId id="276" r:id="rId14"/>
    <p:sldId id="277" r:id="rId15"/>
    <p:sldId id="278" r:id="rId16"/>
    <p:sldId id="263" r:id="rId17"/>
    <p:sldId id="264" r:id="rId18"/>
    <p:sldId id="280" r:id="rId19"/>
    <p:sldId id="281" r:id="rId20"/>
    <p:sldId id="27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9F7A"/>
    <a:srgbClr val="F2EFE9"/>
    <a:srgbClr val="D4D1CC"/>
    <a:srgbClr val="FBF8F1"/>
    <a:srgbClr val="888582"/>
    <a:srgbClr val="E5E7DA"/>
    <a:srgbClr val="466B33"/>
    <a:srgbClr val="B0BEA2"/>
    <a:srgbClr val="1A1818"/>
    <a:srgbClr val="F4F5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0" d="100"/>
          <a:sy n="80" d="100"/>
        </p:scale>
        <p:origin x="782" y="1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9B859A-D610-4386-8D24-7AE49DEF573A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6347DB-AB0D-4939-AD48-6166D1BA7D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318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6139C-A57F-D96B-A8E5-0D2EFA7FE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5D208D-BEF9-B130-D4B8-E02FD30CBE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1FB6C-B3F0-FC7E-74F4-53D745788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D176A-26B6-43E0-84FB-3B41AE14361B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05567-83C2-C3E5-1343-D89DE9E04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46131-E42C-7643-EA2F-7116A178A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ECAB-B323-4EAB-B6CC-8D02F1B2B9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471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B8C84-5832-D957-B19E-011ED16D7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5AA51-B01E-2278-C619-101894A1D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707DA-8396-524D-B9B3-11CEE712A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7FEA7-A022-4F55-A056-D41E8A3902E5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D1EAB-F583-B603-1A6F-E032172D2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D6ABD-B387-8EF9-3519-4BC74D9D0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ECAB-B323-4EAB-B6CC-8D02F1B2B9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470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A0955-B152-51AB-9575-18F321A14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A9C71-CD91-56BF-A726-F5EB03F89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DBBBC-CCB6-CD74-D280-BB9FD8AA8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D8FED-2CD4-40EA-AF97-4752AC5E52A1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A5478-63AA-011C-4375-77F831860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B24C2-171E-99A0-AD82-D4BF2541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ECAB-B323-4EAB-B6CC-8D02F1B2B9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790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D695F-8B51-2B0B-7885-396A70FDD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B641D-AE08-5A57-D14D-1B7779491F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1815FE-2000-9F62-4DCC-55C8C56E1E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B5A9C6-B5F9-B6AF-FF61-8CE9388F6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293D9-13AB-4E58-8FAF-E588E7FAB158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7E9F41-7D56-89F1-3E44-CFADC3B07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9D83B-1F7E-A5C7-AF52-43DE96AF6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ECAB-B323-4EAB-B6CC-8D02F1B2B9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922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FC1B1-747C-3C5B-55C0-25737BC93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679DB1-98E5-5EA2-E789-D980F490D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490F4B-F194-B366-D215-879E26D40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674463-F46E-740B-AF83-F15D0EEE60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D17461-0031-80F0-1233-B40C7BF4CF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69A28-9C30-6B88-A154-C25781AB0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9D085-FCBA-4E1A-B21C-33DCF1AC7BA6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B2CCB8-5949-3D56-D523-05B3BA837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AD27A-1D88-95B4-0459-603B12103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ECAB-B323-4EAB-B6CC-8D02F1B2B9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806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E8118-6304-C976-72F7-13D9D135A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78359A-A778-E69C-EBAE-91AABCAC9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CA4DE-E7D0-451D-82CD-3BDFDDC3D8ED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DAD602-2020-296F-6376-FEE05CF96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4E4082-6E14-AC5E-EE34-0AC79C659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ECAB-B323-4EAB-B6CC-8D02F1B2B9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29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C26B6A-2608-C77A-D293-6E26E852C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8558D-FD61-4B24-A376-FD3A71641F41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46F288-02F1-68D9-3411-E6C811EFF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DA139-E96D-216B-68C0-D7E41D32F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ECAB-B323-4EAB-B6CC-8D02F1B2B9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937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A2588-E6A0-17B9-1475-F9429DCE7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9DD0B-49A1-97DA-C423-5F8EE84FC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064BF5-EFC0-6C0A-A0CC-BC28901086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D6A742-5516-9455-8788-8FECDC06F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DE900-9AD7-4065-BAE4-4F51269BA4D3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989216-7A5C-74E7-8838-901E15DE6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D56065-5D50-5482-696E-7D0FB78E3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ECAB-B323-4EAB-B6CC-8D02F1B2B9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060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F4425-A4F1-30BD-2DBD-0C8AA5492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AF9A0A-CC1F-DCBB-D0DD-E59EBB360B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A43B57-9A93-9439-2B7B-4858667D02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BA28AA-77C6-CBDA-F273-72C7FC15F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37189-3096-4D80-AB6F-E012F01D4156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07A7A4-C107-122B-1AD2-7E1156DB4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20EBF3-D1B2-65D0-07F5-648EB2B10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ECAB-B323-4EAB-B6CC-8D02F1B2B9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859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B9040-F426-00EB-04AC-4A8D843B7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298580-3B4E-4657-A113-B410B3A607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E3299-873B-3A21-93BD-E1FC7696F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2DEB3-E6F0-4A6A-B8A5-A36869DEF69C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BD8F0-16BC-F6B0-A933-14220E842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A2567-3598-94A2-1161-B80C3F023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ECAB-B323-4EAB-B6CC-8D02F1B2B9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567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F6F51D-D80C-46F7-FB74-E8A84B7095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12BC46-05BD-34E4-BBA0-80D0591E2A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BCE66-DBA3-14EA-A103-77D920ADB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E1912-C6F8-4AFA-A4A6-8819EA88AFD4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E0969-22BC-A99C-7749-0D84B1CDA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721EB-9605-E75F-5C1F-17976955E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ECAB-B323-4EAB-B6CC-8D02F1B2B9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364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99F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D554C5-AA8F-B5B7-3315-27122EA8B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43DFD7-81CD-9B66-1498-9A6265B35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32211-9E6E-F103-3DD7-A22B9B1CBF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B9A88-7B6F-4138-9ADE-511303201A9F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705AF-6B54-2C6C-0CCA-52C03B21E8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E3F1D-08A5-E182-A35A-0D279D64DF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7ECAB-B323-4EAB-B6CC-8D02F1B2B9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038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D440699-0393-5282-584D-6162CAA6D1BF}"/>
              </a:ext>
            </a:extLst>
          </p:cNvPr>
          <p:cNvSpPr/>
          <p:nvPr/>
        </p:nvSpPr>
        <p:spPr>
          <a:xfrm rot="2764243">
            <a:off x="2615903" y="-6113867"/>
            <a:ext cx="6028260" cy="16139609"/>
          </a:xfrm>
          <a:prstGeom prst="roundRect">
            <a:avLst/>
          </a:prstGeom>
          <a:solidFill>
            <a:srgbClr val="F2E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4330D67-DB3A-0192-1101-33429184B363}"/>
              </a:ext>
            </a:extLst>
          </p:cNvPr>
          <p:cNvGrpSpPr/>
          <p:nvPr/>
        </p:nvGrpSpPr>
        <p:grpSpPr>
          <a:xfrm>
            <a:off x="5288281" y="-969082"/>
            <a:ext cx="9117826" cy="6059242"/>
            <a:chOff x="7128725" y="-969082"/>
            <a:chExt cx="7277381" cy="4981093"/>
          </a:xfrm>
          <a:blipFill>
            <a:blip r:embed="rId2"/>
            <a:stretch>
              <a:fillRect/>
            </a:stretch>
          </a:blipFill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81DE80E3-91BE-E5DC-4E55-DF32A3D11517}"/>
                </a:ext>
              </a:extLst>
            </p:cNvPr>
            <p:cNvSpPr/>
            <p:nvPr/>
          </p:nvSpPr>
          <p:spPr>
            <a:xfrm rot="2759590">
              <a:off x="9782144" y="-1305458"/>
              <a:ext cx="1866123" cy="5728996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B3B569E-3ECD-BF70-2922-660FD35A94FD}"/>
                </a:ext>
              </a:extLst>
            </p:cNvPr>
            <p:cNvSpPr/>
            <p:nvPr/>
          </p:nvSpPr>
          <p:spPr>
            <a:xfrm rot="2759590">
              <a:off x="8409768" y="-2250125"/>
              <a:ext cx="1866123" cy="442821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36E59BD8-C806-A8AA-A0FE-D1E6156A0FA6}"/>
                </a:ext>
              </a:extLst>
            </p:cNvPr>
            <p:cNvSpPr/>
            <p:nvPr/>
          </p:nvSpPr>
          <p:spPr>
            <a:xfrm rot="2759590">
              <a:off x="11258939" y="864845"/>
              <a:ext cx="1866123" cy="442821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BFE4833-D8FC-87A4-B117-786245315F0D}"/>
              </a:ext>
            </a:extLst>
          </p:cNvPr>
          <p:cNvSpPr txBox="1"/>
          <p:nvPr/>
        </p:nvSpPr>
        <p:spPr>
          <a:xfrm>
            <a:off x="855227" y="1633294"/>
            <a:ext cx="524077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anose="020B0903020102020204" pitchFamily="34" charset="0"/>
              </a:rPr>
              <a:t>DATA ANALYSIS</a:t>
            </a:r>
          </a:p>
          <a:p>
            <a:pPr algn="ctr"/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anose="020B0903020102020204" pitchFamily="34" charset="0"/>
              </a:rPr>
              <a:t>GRADUATION</a:t>
            </a:r>
          </a:p>
          <a:p>
            <a:pPr algn="ctr"/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anose="020B0903020102020204" pitchFamily="34" charset="0"/>
              </a:rPr>
              <a:t>PROJECT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2DD527-9373-D163-4F8B-4CBD337D9C73}"/>
              </a:ext>
            </a:extLst>
          </p:cNvPr>
          <p:cNvSpPr txBox="1"/>
          <p:nvPr/>
        </p:nvSpPr>
        <p:spPr>
          <a:xfrm>
            <a:off x="1728093" y="3438525"/>
            <a:ext cx="34950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anose="020B0903020102020204" pitchFamily="34" charset="0"/>
              </a:rPr>
              <a:t>BY: AHMED MOHAMED</a:t>
            </a:r>
          </a:p>
          <a:p>
            <a:pPr algn="ctr"/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anose="020B0903020102020204" pitchFamily="34" charset="0"/>
              </a:rPr>
              <a:t>ALI MAGDY</a:t>
            </a:r>
          </a:p>
          <a:p>
            <a:pPr algn="ctr"/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anose="020B0903020102020204" pitchFamily="34" charset="0"/>
              </a:rPr>
              <a:t>KYRILLOS GABER</a:t>
            </a:r>
          </a:p>
          <a:p>
            <a:pPr algn="ctr"/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anose="020B0903020102020204" pitchFamily="34" charset="0"/>
              </a:rPr>
              <a:t>TAREK AHMED</a:t>
            </a:r>
          </a:p>
          <a:p>
            <a:pPr algn="ctr"/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anose="020B0903020102020204" pitchFamily="34" charset="0"/>
              </a:rPr>
              <a:t>YOUSSEF MOHAMED</a:t>
            </a:r>
          </a:p>
        </p:txBody>
      </p:sp>
    </p:spTree>
    <p:extLst>
      <p:ext uri="{BB962C8B-B14F-4D97-AF65-F5344CB8AC3E}">
        <p14:creationId xmlns:p14="http://schemas.microsoft.com/office/powerpoint/2010/main" val="18759595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fallOver"/>
      </p:transition>
    </mc:Choice>
    <mc:Fallback xmlns="">
      <p:transition spd="slow"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CC740-277E-E516-4CE6-39D68C027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0259E75-1FCF-2BDA-6564-0044C329E690}"/>
              </a:ext>
            </a:extLst>
          </p:cNvPr>
          <p:cNvGrpSpPr/>
          <p:nvPr/>
        </p:nvGrpSpPr>
        <p:grpSpPr>
          <a:xfrm>
            <a:off x="637093" y="0"/>
            <a:ext cx="2444434" cy="6858000"/>
            <a:chOff x="10038080" y="0"/>
            <a:chExt cx="2444434" cy="6858000"/>
          </a:xfrm>
        </p:grpSpPr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0125C6E2-EDBD-6518-2A99-9000461A5AD4}"/>
                </a:ext>
              </a:extLst>
            </p:cNvPr>
            <p:cNvSpPr/>
            <p:nvPr/>
          </p:nvSpPr>
          <p:spPr>
            <a:xfrm>
              <a:off x="10159997" y="0"/>
              <a:ext cx="2322517" cy="6858000"/>
            </a:xfrm>
            <a:custGeom>
              <a:avLst/>
              <a:gdLst>
                <a:gd name="csX0" fmla="*/ 0 w 2322514"/>
                <a:gd name="csY0" fmla="*/ 0 h 6858000"/>
                <a:gd name="csX1" fmla="*/ 2032000 w 2322514"/>
                <a:gd name="csY1" fmla="*/ 0 h 6858000"/>
                <a:gd name="csX2" fmla="*/ 2032000 w 2322514"/>
                <a:gd name="csY2" fmla="*/ 852489 h 6858000"/>
                <a:gd name="csX3" fmla="*/ 2322514 w 2322514"/>
                <a:gd name="csY3" fmla="*/ 1154909 h 6858000"/>
                <a:gd name="csX4" fmla="*/ 2032000 w 2322514"/>
                <a:gd name="csY4" fmla="*/ 1457329 h 6858000"/>
                <a:gd name="csX5" fmla="*/ 2032000 w 2322514"/>
                <a:gd name="csY5" fmla="*/ 6858000 h 6858000"/>
                <a:gd name="csX6" fmla="*/ 0 w 2322514"/>
                <a:gd name="csY6" fmla="*/ 685800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322514" h="6858000">
                  <a:moveTo>
                    <a:pt x="0" y="0"/>
                  </a:moveTo>
                  <a:lnTo>
                    <a:pt x="2032000" y="0"/>
                  </a:lnTo>
                  <a:lnTo>
                    <a:pt x="2032000" y="852489"/>
                  </a:lnTo>
                  <a:lnTo>
                    <a:pt x="2322514" y="1154909"/>
                  </a:lnTo>
                  <a:lnTo>
                    <a:pt x="2032000" y="1457329"/>
                  </a:lnTo>
                  <a:lnTo>
                    <a:pt x="203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1A1818"/>
            </a:solidFill>
            <a:ln>
              <a:noFill/>
            </a:ln>
            <a:effectLst>
              <a:outerShdw blurRad="1270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5597EBA-AD07-2F7B-56A3-0C863F145BAE}"/>
                </a:ext>
              </a:extLst>
            </p:cNvPr>
            <p:cNvSpPr txBox="1"/>
            <p:nvPr/>
          </p:nvSpPr>
          <p:spPr>
            <a:xfrm>
              <a:off x="10450512" y="829801"/>
              <a:ext cx="15484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skerville Old Face" panose="02020602080505020303" pitchFamily="18" charset="0"/>
                  <a:ea typeface="Microsoft Sans Serif" panose="020B0604020202020204" pitchFamily="34" charset="0"/>
                  <a:cs typeface="Arial" panose="020B0604020202020204" pitchFamily="34" charset="0"/>
                </a:rPr>
                <a:t>Stage 6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059FAA8-D97E-A469-3DFE-AE72701735B0}"/>
                </a:ext>
              </a:extLst>
            </p:cNvPr>
            <p:cNvSpPr txBox="1"/>
            <p:nvPr/>
          </p:nvSpPr>
          <p:spPr>
            <a:xfrm>
              <a:off x="10038080" y="2547255"/>
              <a:ext cx="219986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skerville Old Face" panose="02020602080505020303" pitchFamily="18" charset="0"/>
                </a:rPr>
                <a:t>Insights </a:t>
              </a:r>
            </a:p>
            <a:p>
              <a:pPr algn="ctr"/>
              <a:r>
                <a:rPr lang="en-US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skerville Old Face" panose="02020602080505020303" pitchFamily="18" charset="0"/>
                </a:rPr>
                <a:t>&amp; Recommendations </a:t>
              </a:r>
              <a:endParaRPr 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AD91EEE-DE49-71FE-2CC6-87875EE8CE64}"/>
              </a:ext>
            </a:extLst>
          </p:cNvPr>
          <p:cNvGrpSpPr/>
          <p:nvPr/>
        </p:nvGrpSpPr>
        <p:grpSpPr>
          <a:xfrm>
            <a:off x="654424" y="0"/>
            <a:ext cx="2322512" cy="6858000"/>
            <a:chOff x="8128000" y="0"/>
            <a:chExt cx="2322512" cy="6858000"/>
          </a:xfrm>
        </p:grpSpPr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29C2045-3A28-D8E8-011A-BDD821D647EA}"/>
                </a:ext>
              </a:extLst>
            </p:cNvPr>
            <p:cNvSpPr/>
            <p:nvPr/>
          </p:nvSpPr>
          <p:spPr>
            <a:xfrm>
              <a:off x="8128000" y="0"/>
              <a:ext cx="2322512" cy="6858000"/>
            </a:xfrm>
            <a:custGeom>
              <a:avLst/>
              <a:gdLst>
                <a:gd name="csX0" fmla="*/ 0 w 2322512"/>
                <a:gd name="csY0" fmla="*/ 0 h 6858000"/>
                <a:gd name="csX1" fmla="*/ 2032000 w 2322512"/>
                <a:gd name="csY1" fmla="*/ 0 h 6858000"/>
                <a:gd name="csX2" fmla="*/ 2032000 w 2322512"/>
                <a:gd name="csY2" fmla="*/ 854872 h 6858000"/>
                <a:gd name="csX3" fmla="*/ 2322512 w 2322512"/>
                <a:gd name="csY3" fmla="*/ 1157292 h 6858000"/>
                <a:gd name="csX4" fmla="*/ 2032000 w 2322512"/>
                <a:gd name="csY4" fmla="*/ 1459712 h 6858000"/>
                <a:gd name="csX5" fmla="*/ 2032000 w 2322512"/>
                <a:gd name="csY5" fmla="*/ 6858000 h 6858000"/>
                <a:gd name="csX6" fmla="*/ 0 w 2322512"/>
                <a:gd name="csY6" fmla="*/ 685800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322512" h="6858000">
                  <a:moveTo>
                    <a:pt x="0" y="0"/>
                  </a:moveTo>
                  <a:lnTo>
                    <a:pt x="2032000" y="0"/>
                  </a:lnTo>
                  <a:lnTo>
                    <a:pt x="2032000" y="854872"/>
                  </a:lnTo>
                  <a:lnTo>
                    <a:pt x="2322512" y="1157292"/>
                  </a:lnTo>
                  <a:lnTo>
                    <a:pt x="2032000" y="1459712"/>
                  </a:lnTo>
                  <a:lnTo>
                    <a:pt x="203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466B33"/>
            </a:solidFill>
            <a:ln>
              <a:noFill/>
            </a:ln>
            <a:effectLst>
              <a:outerShdw blurRad="1270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56BC22D-9436-E4C7-DE94-D2B1076BA8AD}"/>
                </a:ext>
              </a:extLst>
            </p:cNvPr>
            <p:cNvSpPr txBox="1"/>
            <p:nvPr/>
          </p:nvSpPr>
          <p:spPr>
            <a:xfrm>
              <a:off x="8489632" y="829802"/>
              <a:ext cx="15484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skerville Old Face" panose="02020602080505020303" pitchFamily="18" charset="0"/>
                  <a:ea typeface="Microsoft Sans Serif" panose="020B0604020202020204" pitchFamily="34" charset="0"/>
                  <a:cs typeface="Arial" panose="020B0604020202020204" pitchFamily="34" charset="0"/>
                </a:rPr>
                <a:t>Stage 5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356F0B5-2AAD-95D8-2A95-46F4D96A9E8B}"/>
                </a:ext>
              </a:extLst>
            </p:cNvPr>
            <p:cNvSpPr txBox="1"/>
            <p:nvPr/>
          </p:nvSpPr>
          <p:spPr>
            <a:xfrm>
              <a:off x="8282865" y="2547255"/>
              <a:ext cx="1755215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skerville Old Face" panose="02020602080505020303" pitchFamily="18" charset="0"/>
                </a:rPr>
                <a:t>Report Architecture &amp; UI/UX Design </a:t>
              </a:r>
              <a:endPara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19E6937-7353-8D68-26F0-72C16877C9F0}"/>
              </a:ext>
            </a:extLst>
          </p:cNvPr>
          <p:cNvGrpSpPr/>
          <p:nvPr/>
        </p:nvGrpSpPr>
        <p:grpSpPr>
          <a:xfrm>
            <a:off x="483558" y="0"/>
            <a:ext cx="2322512" cy="6858000"/>
            <a:chOff x="6096000" y="0"/>
            <a:chExt cx="2322512" cy="6858000"/>
          </a:xfrm>
        </p:grpSpPr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64118A80-AE3A-CD6D-4300-CD2500ACF3B8}"/>
                </a:ext>
              </a:extLst>
            </p:cNvPr>
            <p:cNvSpPr/>
            <p:nvPr/>
          </p:nvSpPr>
          <p:spPr>
            <a:xfrm>
              <a:off x="6096000" y="0"/>
              <a:ext cx="2322512" cy="6858000"/>
            </a:xfrm>
            <a:custGeom>
              <a:avLst/>
              <a:gdLst>
                <a:gd name="csX0" fmla="*/ 0 w 2322512"/>
                <a:gd name="csY0" fmla="*/ 0 h 6858000"/>
                <a:gd name="csX1" fmla="*/ 2032000 w 2322512"/>
                <a:gd name="csY1" fmla="*/ 0 h 6858000"/>
                <a:gd name="csX2" fmla="*/ 2032000 w 2322512"/>
                <a:gd name="csY2" fmla="*/ 854872 h 6858000"/>
                <a:gd name="csX3" fmla="*/ 2322512 w 2322512"/>
                <a:gd name="csY3" fmla="*/ 1157292 h 6858000"/>
                <a:gd name="csX4" fmla="*/ 2032000 w 2322512"/>
                <a:gd name="csY4" fmla="*/ 1459711 h 6858000"/>
                <a:gd name="csX5" fmla="*/ 2032000 w 2322512"/>
                <a:gd name="csY5" fmla="*/ 6858000 h 6858000"/>
                <a:gd name="csX6" fmla="*/ 0 w 2322512"/>
                <a:gd name="csY6" fmla="*/ 685800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322512" h="6858000">
                  <a:moveTo>
                    <a:pt x="0" y="0"/>
                  </a:moveTo>
                  <a:lnTo>
                    <a:pt x="2032000" y="0"/>
                  </a:lnTo>
                  <a:lnTo>
                    <a:pt x="2032000" y="854872"/>
                  </a:lnTo>
                  <a:lnTo>
                    <a:pt x="2322512" y="1157292"/>
                  </a:lnTo>
                  <a:lnTo>
                    <a:pt x="2032000" y="1459711"/>
                  </a:lnTo>
                  <a:lnTo>
                    <a:pt x="203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899F7A"/>
            </a:solidFill>
            <a:ln>
              <a:noFill/>
            </a:ln>
            <a:effectLst>
              <a:outerShdw blurRad="1270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754E65EA-1105-D598-BA0A-8471D6E83582}"/>
                </a:ext>
              </a:extLst>
            </p:cNvPr>
            <p:cNvSpPr txBox="1"/>
            <p:nvPr/>
          </p:nvSpPr>
          <p:spPr>
            <a:xfrm>
              <a:off x="6413977" y="829803"/>
              <a:ext cx="15484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skerville Old Face" panose="02020602080505020303" pitchFamily="18" charset="0"/>
                  <a:ea typeface="Microsoft Sans Serif" panose="020B0604020202020204" pitchFamily="34" charset="0"/>
                  <a:cs typeface="Arial" panose="020B0604020202020204" pitchFamily="34" charset="0"/>
                </a:rPr>
                <a:t>Stage 4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A6910E8-AD07-BCFE-F097-53095A4BD9CA}"/>
                </a:ext>
              </a:extLst>
            </p:cNvPr>
            <p:cNvSpPr txBox="1"/>
            <p:nvPr/>
          </p:nvSpPr>
          <p:spPr>
            <a:xfrm>
              <a:off x="6372783" y="2547255"/>
              <a:ext cx="1575911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skerville Old Face" panose="02020602080505020303" pitchFamily="18" charset="0"/>
                </a:rPr>
                <a:t>DAX Business Logic &amp; Measures </a:t>
              </a:r>
              <a:endPara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4FD938B-FC8E-A346-CA75-BFF1C1BD1C20}"/>
              </a:ext>
            </a:extLst>
          </p:cNvPr>
          <p:cNvGrpSpPr/>
          <p:nvPr/>
        </p:nvGrpSpPr>
        <p:grpSpPr>
          <a:xfrm>
            <a:off x="312692" y="0"/>
            <a:ext cx="2322514" cy="6858000"/>
            <a:chOff x="4064000" y="0"/>
            <a:chExt cx="2322514" cy="6858000"/>
          </a:xfrm>
        </p:grpSpPr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A87CD5AD-B23C-0EC6-5FBA-5C6A6D74760C}"/>
                </a:ext>
              </a:extLst>
            </p:cNvPr>
            <p:cNvSpPr/>
            <p:nvPr/>
          </p:nvSpPr>
          <p:spPr>
            <a:xfrm>
              <a:off x="4064000" y="0"/>
              <a:ext cx="2322514" cy="6858000"/>
            </a:xfrm>
            <a:custGeom>
              <a:avLst/>
              <a:gdLst>
                <a:gd name="csX0" fmla="*/ 2032001 w 2322514"/>
                <a:gd name="csY0" fmla="*/ 854872 h 6858000"/>
                <a:gd name="csX1" fmla="*/ 2322514 w 2322514"/>
                <a:gd name="csY1" fmla="*/ 1157292 h 6858000"/>
                <a:gd name="csX2" fmla="*/ 2032001 w 2322514"/>
                <a:gd name="csY2" fmla="*/ 1459712 h 6858000"/>
                <a:gd name="csX3" fmla="*/ 0 w 2322514"/>
                <a:gd name="csY3" fmla="*/ 0 h 6858000"/>
                <a:gd name="csX4" fmla="*/ 2032000 w 2322514"/>
                <a:gd name="csY4" fmla="*/ 0 h 6858000"/>
                <a:gd name="csX5" fmla="*/ 2032000 w 2322514"/>
                <a:gd name="csY5" fmla="*/ 6858000 h 6858000"/>
                <a:gd name="csX6" fmla="*/ 0 w 2322514"/>
                <a:gd name="csY6" fmla="*/ 685800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322514" h="6858000">
                  <a:moveTo>
                    <a:pt x="2032001" y="854872"/>
                  </a:moveTo>
                  <a:lnTo>
                    <a:pt x="2322514" y="1157292"/>
                  </a:lnTo>
                  <a:lnTo>
                    <a:pt x="2032001" y="1459712"/>
                  </a:lnTo>
                  <a:close/>
                  <a:moveTo>
                    <a:pt x="0" y="0"/>
                  </a:moveTo>
                  <a:lnTo>
                    <a:pt x="2032000" y="0"/>
                  </a:lnTo>
                  <a:lnTo>
                    <a:pt x="203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E5E7DA"/>
            </a:solidFill>
            <a:ln>
              <a:noFill/>
            </a:ln>
            <a:effectLst>
              <a:outerShdw blurRad="1270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33623CF-6D70-AADD-7DDF-746E604482FD}"/>
                </a:ext>
              </a:extLst>
            </p:cNvPr>
            <p:cNvSpPr txBox="1"/>
            <p:nvPr/>
          </p:nvSpPr>
          <p:spPr>
            <a:xfrm>
              <a:off x="4453097" y="829803"/>
              <a:ext cx="15484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skerville Old Face" panose="02020602080505020303" pitchFamily="18" charset="0"/>
                  <a:ea typeface="Microsoft Sans Serif" panose="020B0604020202020204" pitchFamily="34" charset="0"/>
                  <a:cs typeface="Arial" panose="020B0604020202020204" pitchFamily="34" charset="0"/>
                </a:rPr>
                <a:t>Stage 3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FD85A91-5DEA-F171-3CBD-6C982E0BAC53}"/>
                </a:ext>
              </a:extLst>
            </p:cNvPr>
            <p:cNvSpPr txBox="1"/>
            <p:nvPr/>
          </p:nvSpPr>
          <p:spPr>
            <a:xfrm>
              <a:off x="4189193" y="2547256"/>
              <a:ext cx="187909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skerville Old Face" panose="02020602080505020303" pitchFamily="18" charset="0"/>
                </a:rPr>
                <a:t>Ingestion &amp; Data Transformation </a:t>
              </a:r>
              <a:endPara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5D3CD3A-DD4D-0785-73BF-9394544515E5}"/>
              </a:ext>
            </a:extLst>
          </p:cNvPr>
          <p:cNvGrpSpPr/>
          <p:nvPr/>
        </p:nvGrpSpPr>
        <p:grpSpPr>
          <a:xfrm>
            <a:off x="193040" y="0"/>
            <a:ext cx="2322515" cy="6858000"/>
            <a:chOff x="2032000" y="0"/>
            <a:chExt cx="2322515" cy="6858000"/>
          </a:xfrm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DBA5C796-A455-3EC6-2E10-FDCD6F447289}"/>
                </a:ext>
              </a:extLst>
            </p:cNvPr>
            <p:cNvSpPr/>
            <p:nvPr/>
          </p:nvSpPr>
          <p:spPr>
            <a:xfrm>
              <a:off x="2032000" y="0"/>
              <a:ext cx="2322515" cy="6858000"/>
            </a:xfrm>
            <a:custGeom>
              <a:avLst/>
              <a:gdLst>
                <a:gd name="csX0" fmla="*/ 2032002 w 2322515"/>
                <a:gd name="csY0" fmla="*/ 852489 h 6858000"/>
                <a:gd name="csX1" fmla="*/ 2322515 w 2322515"/>
                <a:gd name="csY1" fmla="*/ 1154909 h 6858000"/>
                <a:gd name="csX2" fmla="*/ 2032002 w 2322515"/>
                <a:gd name="csY2" fmla="*/ 1457329 h 6858000"/>
                <a:gd name="csX3" fmla="*/ 0 w 2322515"/>
                <a:gd name="csY3" fmla="*/ 0 h 6858000"/>
                <a:gd name="csX4" fmla="*/ 2032000 w 2322515"/>
                <a:gd name="csY4" fmla="*/ 0 h 6858000"/>
                <a:gd name="csX5" fmla="*/ 2032000 w 2322515"/>
                <a:gd name="csY5" fmla="*/ 6858000 h 6858000"/>
                <a:gd name="csX6" fmla="*/ 0 w 2322515"/>
                <a:gd name="csY6" fmla="*/ 685800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322515" h="6858000">
                  <a:moveTo>
                    <a:pt x="2032002" y="852489"/>
                  </a:moveTo>
                  <a:lnTo>
                    <a:pt x="2322515" y="1154909"/>
                  </a:lnTo>
                  <a:lnTo>
                    <a:pt x="2032002" y="1457329"/>
                  </a:lnTo>
                  <a:close/>
                  <a:moveTo>
                    <a:pt x="0" y="0"/>
                  </a:moveTo>
                  <a:lnTo>
                    <a:pt x="2032000" y="0"/>
                  </a:lnTo>
                  <a:lnTo>
                    <a:pt x="203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B0BEA2"/>
            </a:solidFill>
            <a:ln>
              <a:noFill/>
            </a:ln>
            <a:effectLst>
              <a:outerShdw blurRad="1270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100A26E-F879-E383-F660-CA0942658E7D}"/>
                </a:ext>
              </a:extLst>
            </p:cNvPr>
            <p:cNvSpPr txBox="1"/>
            <p:nvPr/>
          </p:nvSpPr>
          <p:spPr>
            <a:xfrm>
              <a:off x="2323624" y="829803"/>
              <a:ext cx="15484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skerville Old Face" panose="02020602080505020303" pitchFamily="18" charset="0"/>
                  <a:ea typeface="Microsoft Sans Serif" panose="020B0604020202020204" pitchFamily="34" charset="0"/>
                  <a:cs typeface="Arial" panose="020B0604020202020204" pitchFamily="34" charset="0"/>
                </a:rPr>
                <a:t>Stage 2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D5FD8A2-A77B-C476-981E-D0B03EABD69B}"/>
                </a:ext>
              </a:extLst>
            </p:cNvPr>
            <p:cNvSpPr txBox="1"/>
            <p:nvPr/>
          </p:nvSpPr>
          <p:spPr>
            <a:xfrm>
              <a:off x="2323624" y="2547256"/>
              <a:ext cx="1449864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skerville Old Face" panose="02020602080505020303" pitchFamily="18" charset="0"/>
                </a:rPr>
                <a:t>Project Mission &amp; Analytical Objectives </a:t>
              </a:r>
              <a:endPara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ED8AAA1-4940-E858-D9A9-4B8C4C66CE6F}"/>
              </a:ext>
            </a:extLst>
          </p:cNvPr>
          <p:cNvGrpSpPr/>
          <p:nvPr/>
        </p:nvGrpSpPr>
        <p:grpSpPr>
          <a:xfrm>
            <a:off x="0" y="0"/>
            <a:ext cx="2322513" cy="6858000"/>
            <a:chOff x="0" y="0"/>
            <a:chExt cx="2322513" cy="6858000"/>
          </a:xfrm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13C64BB-425C-2678-8F3D-5E9F98B9B15A}"/>
                </a:ext>
              </a:extLst>
            </p:cNvPr>
            <p:cNvSpPr/>
            <p:nvPr/>
          </p:nvSpPr>
          <p:spPr>
            <a:xfrm>
              <a:off x="0" y="0"/>
              <a:ext cx="2322513" cy="6858000"/>
            </a:xfrm>
            <a:custGeom>
              <a:avLst/>
              <a:gdLst>
                <a:gd name="csX0" fmla="*/ 0 w 2322513"/>
                <a:gd name="csY0" fmla="*/ 0 h 6858000"/>
                <a:gd name="csX1" fmla="*/ 2032000 w 2322513"/>
                <a:gd name="csY1" fmla="*/ 0 h 6858000"/>
                <a:gd name="csX2" fmla="*/ 2032000 w 2322513"/>
                <a:gd name="csY2" fmla="*/ 852489 h 6858000"/>
                <a:gd name="csX3" fmla="*/ 2322513 w 2322513"/>
                <a:gd name="csY3" fmla="*/ 1154909 h 6858000"/>
                <a:gd name="csX4" fmla="*/ 2032000 w 2322513"/>
                <a:gd name="csY4" fmla="*/ 1457328 h 6858000"/>
                <a:gd name="csX5" fmla="*/ 2032000 w 2322513"/>
                <a:gd name="csY5" fmla="*/ 6858000 h 6858000"/>
                <a:gd name="csX6" fmla="*/ 0 w 2322513"/>
                <a:gd name="csY6" fmla="*/ 685800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322513" h="6858000">
                  <a:moveTo>
                    <a:pt x="0" y="0"/>
                  </a:moveTo>
                  <a:lnTo>
                    <a:pt x="2032000" y="0"/>
                  </a:lnTo>
                  <a:lnTo>
                    <a:pt x="2032000" y="852489"/>
                  </a:lnTo>
                  <a:lnTo>
                    <a:pt x="2322513" y="1154909"/>
                  </a:lnTo>
                  <a:lnTo>
                    <a:pt x="2032000" y="1457328"/>
                  </a:lnTo>
                  <a:lnTo>
                    <a:pt x="203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D4D1CC"/>
            </a:solidFill>
            <a:ln>
              <a:noFill/>
            </a:ln>
            <a:effectLst>
              <a:outerShdw blurRad="1270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55476465-ED3E-6B6D-CE67-904F44B11CFC}"/>
                </a:ext>
              </a:extLst>
            </p:cNvPr>
            <p:cNvSpPr txBox="1"/>
            <p:nvPr/>
          </p:nvSpPr>
          <p:spPr>
            <a:xfrm>
              <a:off x="291624" y="829803"/>
              <a:ext cx="15484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skerville Old Face" panose="02020602080505020303" pitchFamily="18" charset="0"/>
                  <a:ea typeface="Microsoft Sans Serif" panose="020B0604020202020204" pitchFamily="34" charset="0"/>
                  <a:cs typeface="Arial" panose="020B0604020202020204" pitchFamily="34" charset="0"/>
                </a:rPr>
                <a:t>Stage 1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6C837BA-28AF-7EBE-BB30-2A0795BD54ED}"/>
                </a:ext>
              </a:extLst>
            </p:cNvPr>
            <p:cNvSpPr txBox="1"/>
            <p:nvPr/>
          </p:nvSpPr>
          <p:spPr>
            <a:xfrm>
              <a:off x="291624" y="2547257"/>
              <a:ext cx="144986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skerville Old Face" panose="02020602080505020303" pitchFamily="18" charset="0"/>
                </a:rPr>
                <a:t>Business Problem Statement 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DC41C06-D5CA-5FFF-2F19-26C2E3397433}"/>
              </a:ext>
            </a:extLst>
          </p:cNvPr>
          <p:cNvGrpSpPr/>
          <p:nvPr/>
        </p:nvGrpSpPr>
        <p:grpSpPr>
          <a:xfrm>
            <a:off x="5746558" y="1903248"/>
            <a:ext cx="4306762" cy="2488345"/>
            <a:chOff x="5746558" y="1616231"/>
            <a:chExt cx="4306762" cy="248834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67D5EA7-FF9A-FEB4-3A79-2DAD37AF2A6E}"/>
                </a:ext>
              </a:extLst>
            </p:cNvPr>
            <p:cNvSpPr txBox="1"/>
            <p:nvPr/>
          </p:nvSpPr>
          <p:spPr>
            <a:xfrm>
              <a:off x="5746558" y="3181246"/>
              <a:ext cx="4306762" cy="923330"/>
            </a:xfrm>
            <a:prstGeom prst="rect">
              <a:avLst/>
            </a:prstGeom>
            <a:noFill/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b="1" i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rush Script MT" panose="03060802040406070304" pitchFamily="66" charset="0"/>
                  <a:ea typeface="Microsoft Sans Serif" panose="020B0604020202020204" pitchFamily="34" charset="0"/>
                  <a:cs typeface="Arabic Typesetting" panose="03020402040406030203" pitchFamily="66" charset="-78"/>
                </a:rPr>
                <a:t>Analytical Stages</a:t>
              </a:r>
              <a:endParaRPr lang="en-US" sz="4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ush Script MT" panose="03060802040406070304" pitchFamily="66" charset="0"/>
                <a:ea typeface="Microsoft Sans Serif" panose="020B0604020202020204" pitchFamily="34" charset="0"/>
                <a:cs typeface="Arabic Typesetting" panose="03020402040406030203" pitchFamily="66" charset="-78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ED6E6D7-56AB-2908-23FF-C7C5CC3E3CE3}"/>
                </a:ext>
              </a:extLst>
            </p:cNvPr>
            <p:cNvSpPr txBox="1"/>
            <p:nvPr/>
          </p:nvSpPr>
          <p:spPr>
            <a:xfrm>
              <a:off x="6198678" y="1616231"/>
              <a:ext cx="3402522" cy="2215991"/>
            </a:xfrm>
            <a:prstGeom prst="rect">
              <a:avLst/>
            </a:prstGeom>
            <a:noFill/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Franklin Gothic Heavy" panose="020B09030201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SIX</a:t>
              </a:r>
              <a:endParaRPr lang="en-US" sz="1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anose="020B09030201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1853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3789BB0B-F920-21A4-555D-9E8EDEE4D086}"/>
              </a:ext>
            </a:extLst>
          </p:cNvPr>
          <p:cNvGrpSpPr/>
          <p:nvPr/>
        </p:nvGrpSpPr>
        <p:grpSpPr>
          <a:xfrm>
            <a:off x="10038080" y="0"/>
            <a:ext cx="2444434" cy="6858000"/>
            <a:chOff x="10038080" y="0"/>
            <a:chExt cx="2444434" cy="6858000"/>
          </a:xfrm>
        </p:grpSpPr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6974A37-E578-367D-D09C-C10BFAC2FDF3}"/>
                </a:ext>
              </a:extLst>
            </p:cNvPr>
            <p:cNvSpPr/>
            <p:nvPr/>
          </p:nvSpPr>
          <p:spPr>
            <a:xfrm>
              <a:off x="10159997" y="0"/>
              <a:ext cx="2322517" cy="6858000"/>
            </a:xfrm>
            <a:custGeom>
              <a:avLst/>
              <a:gdLst>
                <a:gd name="csX0" fmla="*/ 0 w 2322514"/>
                <a:gd name="csY0" fmla="*/ 0 h 6858000"/>
                <a:gd name="csX1" fmla="*/ 2032000 w 2322514"/>
                <a:gd name="csY1" fmla="*/ 0 h 6858000"/>
                <a:gd name="csX2" fmla="*/ 2032000 w 2322514"/>
                <a:gd name="csY2" fmla="*/ 852489 h 6858000"/>
                <a:gd name="csX3" fmla="*/ 2322514 w 2322514"/>
                <a:gd name="csY3" fmla="*/ 1154909 h 6858000"/>
                <a:gd name="csX4" fmla="*/ 2032000 w 2322514"/>
                <a:gd name="csY4" fmla="*/ 1457329 h 6858000"/>
                <a:gd name="csX5" fmla="*/ 2032000 w 2322514"/>
                <a:gd name="csY5" fmla="*/ 6858000 h 6858000"/>
                <a:gd name="csX6" fmla="*/ 0 w 2322514"/>
                <a:gd name="csY6" fmla="*/ 685800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322514" h="6858000">
                  <a:moveTo>
                    <a:pt x="0" y="0"/>
                  </a:moveTo>
                  <a:lnTo>
                    <a:pt x="2032000" y="0"/>
                  </a:lnTo>
                  <a:lnTo>
                    <a:pt x="2032000" y="852489"/>
                  </a:lnTo>
                  <a:lnTo>
                    <a:pt x="2322514" y="1154909"/>
                  </a:lnTo>
                  <a:lnTo>
                    <a:pt x="2032000" y="1457329"/>
                  </a:lnTo>
                  <a:lnTo>
                    <a:pt x="203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1A1818"/>
            </a:solidFill>
            <a:ln>
              <a:noFill/>
            </a:ln>
            <a:effectLst>
              <a:outerShdw blurRad="1270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Baskerville Old Face" panose="02020602080505020303" pitchFamily="18" charset="0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460B9FB2-778F-7B2A-0CA5-7A05BEBC127B}"/>
                </a:ext>
              </a:extLst>
            </p:cNvPr>
            <p:cNvSpPr txBox="1"/>
            <p:nvPr/>
          </p:nvSpPr>
          <p:spPr>
            <a:xfrm>
              <a:off x="10450512" y="829801"/>
              <a:ext cx="15484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skerville Old Face" panose="02020602080505020303" pitchFamily="18" charset="0"/>
                  <a:ea typeface="Microsoft Sans Serif" panose="020B0604020202020204" pitchFamily="34" charset="0"/>
                  <a:cs typeface="Arial" panose="020B0604020202020204" pitchFamily="34" charset="0"/>
                </a:rPr>
                <a:t>Stage 6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E46B412-283E-1422-C280-5FA86E73AD1C}"/>
                </a:ext>
              </a:extLst>
            </p:cNvPr>
            <p:cNvSpPr txBox="1"/>
            <p:nvPr/>
          </p:nvSpPr>
          <p:spPr>
            <a:xfrm>
              <a:off x="10038080" y="2547255"/>
              <a:ext cx="219986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skerville Old Face" panose="02020602080505020303" pitchFamily="18" charset="0"/>
                </a:rPr>
                <a:t>Insights </a:t>
              </a:r>
            </a:p>
            <a:p>
              <a:pPr algn="ctr"/>
              <a:r>
                <a:rPr lang="en-US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skerville Old Face" panose="02020602080505020303" pitchFamily="18" charset="0"/>
                </a:rPr>
                <a:t>&amp; Recommendations </a:t>
              </a:r>
              <a:endParaRPr 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4B335E5-B12C-B12B-256D-0191D4298FD4}"/>
              </a:ext>
            </a:extLst>
          </p:cNvPr>
          <p:cNvGrpSpPr/>
          <p:nvPr/>
        </p:nvGrpSpPr>
        <p:grpSpPr>
          <a:xfrm>
            <a:off x="8128000" y="0"/>
            <a:ext cx="2322512" cy="6858000"/>
            <a:chOff x="8128000" y="0"/>
            <a:chExt cx="2322512" cy="6858000"/>
          </a:xfrm>
        </p:grpSpPr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BD309922-4E40-45F4-374D-AF53E4258AA3}"/>
                </a:ext>
              </a:extLst>
            </p:cNvPr>
            <p:cNvSpPr/>
            <p:nvPr/>
          </p:nvSpPr>
          <p:spPr>
            <a:xfrm>
              <a:off x="8128000" y="0"/>
              <a:ext cx="2322512" cy="6858000"/>
            </a:xfrm>
            <a:custGeom>
              <a:avLst/>
              <a:gdLst>
                <a:gd name="csX0" fmla="*/ 0 w 2322512"/>
                <a:gd name="csY0" fmla="*/ 0 h 6858000"/>
                <a:gd name="csX1" fmla="*/ 2032000 w 2322512"/>
                <a:gd name="csY1" fmla="*/ 0 h 6858000"/>
                <a:gd name="csX2" fmla="*/ 2032000 w 2322512"/>
                <a:gd name="csY2" fmla="*/ 854872 h 6858000"/>
                <a:gd name="csX3" fmla="*/ 2322512 w 2322512"/>
                <a:gd name="csY3" fmla="*/ 1157292 h 6858000"/>
                <a:gd name="csX4" fmla="*/ 2032000 w 2322512"/>
                <a:gd name="csY4" fmla="*/ 1459712 h 6858000"/>
                <a:gd name="csX5" fmla="*/ 2032000 w 2322512"/>
                <a:gd name="csY5" fmla="*/ 6858000 h 6858000"/>
                <a:gd name="csX6" fmla="*/ 0 w 2322512"/>
                <a:gd name="csY6" fmla="*/ 685800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322512" h="6858000">
                  <a:moveTo>
                    <a:pt x="0" y="0"/>
                  </a:moveTo>
                  <a:lnTo>
                    <a:pt x="2032000" y="0"/>
                  </a:lnTo>
                  <a:lnTo>
                    <a:pt x="2032000" y="854872"/>
                  </a:lnTo>
                  <a:lnTo>
                    <a:pt x="2322512" y="1157292"/>
                  </a:lnTo>
                  <a:lnTo>
                    <a:pt x="2032000" y="1459712"/>
                  </a:lnTo>
                  <a:lnTo>
                    <a:pt x="203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466B33"/>
            </a:solidFill>
            <a:ln>
              <a:noFill/>
            </a:ln>
            <a:effectLst>
              <a:outerShdw blurRad="1270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Baskerville Old Face" panose="02020602080505020303" pitchFamily="18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03A7077-5C55-0E84-F373-01DD9AAEC4B0}"/>
                </a:ext>
              </a:extLst>
            </p:cNvPr>
            <p:cNvSpPr txBox="1"/>
            <p:nvPr/>
          </p:nvSpPr>
          <p:spPr>
            <a:xfrm>
              <a:off x="8489632" y="829802"/>
              <a:ext cx="15484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skerville Old Face" panose="02020602080505020303" pitchFamily="18" charset="0"/>
                  <a:ea typeface="Microsoft Sans Serif" panose="020B0604020202020204" pitchFamily="34" charset="0"/>
                  <a:cs typeface="Arial" panose="020B0604020202020204" pitchFamily="34" charset="0"/>
                </a:rPr>
                <a:t>Stage 5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22AFF5E-514E-67ED-76B5-03242C784079}"/>
                </a:ext>
              </a:extLst>
            </p:cNvPr>
            <p:cNvSpPr txBox="1"/>
            <p:nvPr/>
          </p:nvSpPr>
          <p:spPr>
            <a:xfrm>
              <a:off x="8282865" y="2547255"/>
              <a:ext cx="1755215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skerville Old Face" panose="02020602080505020303" pitchFamily="18" charset="0"/>
                </a:rPr>
                <a:t>Report Architecture &amp; UI/UX Design </a:t>
              </a:r>
              <a:endPara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70C55EF-1B9A-9EEF-AC84-C96391C1959B}"/>
              </a:ext>
            </a:extLst>
          </p:cNvPr>
          <p:cNvGrpSpPr/>
          <p:nvPr/>
        </p:nvGrpSpPr>
        <p:grpSpPr>
          <a:xfrm>
            <a:off x="6096000" y="0"/>
            <a:ext cx="2322512" cy="6858000"/>
            <a:chOff x="6096000" y="0"/>
            <a:chExt cx="2322512" cy="6858000"/>
          </a:xfrm>
        </p:grpSpPr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6E40BEF0-A0DD-737A-99CF-F8D97B025BA1}"/>
                </a:ext>
              </a:extLst>
            </p:cNvPr>
            <p:cNvSpPr/>
            <p:nvPr/>
          </p:nvSpPr>
          <p:spPr>
            <a:xfrm>
              <a:off x="6096000" y="0"/>
              <a:ext cx="2322512" cy="6858000"/>
            </a:xfrm>
            <a:custGeom>
              <a:avLst/>
              <a:gdLst>
                <a:gd name="csX0" fmla="*/ 0 w 2322512"/>
                <a:gd name="csY0" fmla="*/ 0 h 6858000"/>
                <a:gd name="csX1" fmla="*/ 2032000 w 2322512"/>
                <a:gd name="csY1" fmla="*/ 0 h 6858000"/>
                <a:gd name="csX2" fmla="*/ 2032000 w 2322512"/>
                <a:gd name="csY2" fmla="*/ 854872 h 6858000"/>
                <a:gd name="csX3" fmla="*/ 2322512 w 2322512"/>
                <a:gd name="csY3" fmla="*/ 1157292 h 6858000"/>
                <a:gd name="csX4" fmla="*/ 2032000 w 2322512"/>
                <a:gd name="csY4" fmla="*/ 1459711 h 6858000"/>
                <a:gd name="csX5" fmla="*/ 2032000 w 2322512"/>
                <a:gd name="csY5" fmla="*/ 6858000 h 6858000"/>
                <a:gd name="csX6" fmla="*/ 0 w 2322512"/>
                <a:gd name="csY6" fmla="*/ 685800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322512" h="6858000">
                  <a:moveTo>
                    <a:pt x="0" y="0"/>
                  </a:moveTo>
                  <a:lnTo>
                    <a:pt x="2032000" y="0"/>
                  </a:lnTo>
                  <a:lnTo>
                    <a:pt x="2032000" y="854872"/>
                  </a:lnTo>
                  <a:lnTo>
                    <a:pt x="2322512" y="1157292"/>
                  </a:lnTo>
                  <a:lnTo>
                    <a:pt x="2032000" y="1459711"/>
                  </a:lnTo>
                  <a:lnTo>
                    <a:pt x="203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899F7A"/>
            </a:solidFill>
            <a:ln>
              <a:noFill/>
            </a:ln>
            <a:effectLst>
              <a:outerShdw blurRad="1270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Baskerville Old Face" panose="02020602080505020303" pitchFamily="18" charset="0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BEF187D1-5F30-C299-518B-1CE17D4CFA68}"/>
                </a:ext>
              </a:extLst>
            </p:cNvPr>
            <p:cNvSpPr txBox="1"/>
            <p:nvPr/>
          </p:nvSpPr>
          <p:spPr>
            <a:xfrm>
              <a:off x="6413977" y="829803"/>
              <a:ext cx="15484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skerville Old Face" panose="02020602080505020303" pitchFamily="18" charset="0"/>
                  <a:ea typeface="Microsoft Sans Serif" panose="020B0604020202020204" pitchFamily="34" charset="0"/>
                  <a:cs typeface="Arial" panose="020B0604020202020204" pitchFamily="34" charset="0"/>
                </a:rPr>
                <a:t>Stage 4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5B2C1A9-A0FA-A57E-B5B4-25DB60689B51}"/>
                </a:ext>
              </a:extLst>
            </p:cNvPr>
            <p:cNvSpPr txBox="1"/>
            <p:nvPr/>
          </p:nvSpPr>
          <p:spPr>
            <a:xfrm>
              <a:off x="6372783" y="2547255"/>
              <a:ext cx="1575911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skerville Old Face" panose="02020602080505020303" pitchFamily="18" charset="0"/>
                </a:rPr>
                <a:t>DAX Business Logic &amp; Measures </a:t>
              </a:r>
              <a:endPara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67E9D92-904A-EB94-01D5-828C05DA61C2}"/>
              </a:ext>
            </a:extLst>
          </p:cNvPr>
          <p:cNvGrpSpPr/>
          <p:nvPr/>
        </p:nvGrpSpPr>
        <p:grpSpPr>
          <a:xfrm>
            <a:off x="4050269" y="0"/>
            <a:ext cx="2322514" cy="6858000"/>
            <a:chOff x="4064000" y="0"/>
            <a:chExt cx="2322514" cy="6858000"/>
          </a:xfrm>
        </p:grpSpPr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7C38BC2E-BED6-7749-2018-549E549F89DD}"/>
                </a:ext>
              </a:extLst>
            </p:cNvPr>
            <p:cNvSpPr/>
            <p:nvPr/>
          </p:nvSpPr>
          <p:spPr>
            <a:xfrm>
              <a:off x="4064000" y="0"/>
              <a:ext cx="2322514" cy="6858000"/>
            </a:xfrm>
            <a:custGeom>
              <a:avLst/>
              <a:gdLst>
                <a:gd name="csX0" fmla="*/ 2032001 w 2322514"/>
                <a:gd name="csY0" fmla="*/ 854872 h 6858000"/>
                <a:gd name="csX1" fmla="*/ 2322514 w 2322514"/>
                <a:gd name="csY1" fmla="*/ 1157292 h 6858000"/>
                <a:gd name="csX2" fmla="*/ 2032001 w 2322514"/>
                <a:gd name="csY2" fmla="*/ 1459712 h 6858000"/>
                <a:gd name="csX3" fmla="*/ 0 w 2322514"/>
                <a:gd name="csY3" fmla="*/ 0 h 6858000"/>
                <a:gd name="csX4" fmla="*/ 2032000 w 2322514"/>
                <a:gd name="csY4" fmla="*/ 0 h 6858000"/>
                <a:gd name="csX5" fmla="*/ 2032000 w 2322514"/>
                <a:gd name="csY5" fmla="*/ 6858000 h 6858000"/>
                <a:gd name="csX6" fmla="*/ 0 w 2322514"/>
                <a:gd name="csY6" fmla="*/ 685800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322514" h="6858000">
                  <a:moveTo>
                    <a:pt x="2032001" y="854872"/>
                  </a:moveTo>
                  <a:lnTo>
                    <a:pt x="2322514" y="1157292"/>
                  </a:lnTo>
                  <a:lnTo>
                    <a:pt x="2032001" y="1459712"/>
                  </a:lnTo>
                  <a:close/>
                  <a:moveTo>
                    <a:pt x="0" y="0"/>
                  </a:moveTo>
                  <a:lnTo>
                    <a:pt x="2032000" y="0"/>
                  </a:lnTo>
                  <a:lnTo>
                    <a:pt x="203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E5E7DA"/>
            </a:solidFill>
            <a:ln>
              <a:noFill/>
            </a:ln>
            <a:effectLst>
              <a:outerShdw blurRad="1270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Baskerville Old Face" panose="02020602080505020303" pitchFamily="18" charset="0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0900245E-F02E-2600-7854-2CD7F301A6E9}"/>
                </a:ext>
              </a:extLst>
            </p:cNvPr>
            <p:cNvSpPr txBox="1"/>
            <p:nvPr/>
          </p:nvSpPr>
          <p:spPr>
            <a:xfrm>
              <a:off x="4453097" y="829803"/>
              <a:ext cx="15484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skerville Old Face" panose="02020602080505020303" pitchFamily="18" charset="0"/>
                  <a:ea typeface="Microsoft Sans Serif" panose="020B0604020202020204" pitchFamily="34" charset="0"/>
                  <a:cs typeface="Arial" panose="020B0604020202020204" pitchFamily="34" charset="0"/>
                </a:rPr>
                <a:t>Stage 3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63B3AF3-0DB0-0B4F-8D6B-4603E57887BB}"/>
                </a:ext>
              </a:extLst>
            </p:cNvPr>
            <p:cNvSpPr txBox="1"/>
            <p:nvPr/>
          </p:nvSpPr>
          <p:spPr>
            <a:xfrm>
              <a:off x="4189193" y="2547256"/>
              <a:ext cx="187909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skerville Old Face" panose="02020602080505020303" pitchFamily="18" charset="0"/>
                </a:rPr>
                <a:t>Ingestion &amp; Data Transformation </a:t>
              </a:r>
              <a:endPara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5D3CD52-9FCE-50BD-A6FA-7C998414B746}"/>
              </a:ext>
            </a:extLst>
          </p:cNvPr>
          <p:cNvGrpSpPr/>
          <p:nvPr/>
        </p:nvGrpSpPr>
        <p:grpSpPr>
          <a:xfrm>
            <a:off x="2032000" y="0"/>
            <a:ext cx="2322515" cy="6858000"/>
            <a:chOff x="2032000" y="0"/>
            <a:chExt cx="2322515" cy="6858000"/>
          </a:xfrm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C544ECB-7887-2EBA-C1BC-0FEE675F0AE4}"/>
                </a:ext>
              </a:extLst>
            </p:cNvPr>
            <p:cNvSpPr/>
            <p:nvPr/>
          </p:nvSpPr>
          <p:spPr>
            <a:xfrm>
              <a:off x="2032000" y="0"/>
              <a:ext cx="2322515" cy="6858000"/>
            </a:xfrm>
            <a:custGeom>
              <a:avLst/>
              <a:gdLst>
                <a:gd name="csX0" fmla="*/ 2032002 w 2322515"/>
                <a:gd name="csY0" fmla="*/ 852489 h 6858000"/>
                <a:gd name="csX1" fmla="*/ 2322515 w 2322515"/>
                <a:gd name="csY1" fmla="*/ 1154909 h 6858000"/>
                <a:gd name="csX2" fmla="*/ 2032002 w 2322515"/>
                <a:gd name="csY2" fmla="*/ 1457329 h 6858000"/>
                <a:gd name="csX3" fmla="*/ 0 w 2322515"/>
                <a:gd name="csY3" fmla="*/ 0 h 6858000"/>
                <a:gd name="csX4" fmla="*/ 2032000 w 2322515"/>
                <a:gd name="csY4" fmla="*/ 0 h 6858000"/>
                <a:gd name="csX5" fmla="*/ 2032000 w 2322515"/>
                <a:gd name="csY5" fmla="*/ 6858000 h 6858000"/>
                <a:gd name="csX6" fmla="*/ 0 w 2322515"/>
                <a:gd name="csY6" fmla="*/ 685800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322515" h="6858000">
                  <a:moveTo>
                    <a:pt x="2032002" y="852489"/>
                  </a:moveTo>
                  <a:lnTo>
                    <a:pt x="2322515" y="1154909"/>
                  </a:lnTo>
                  <a:lnTo>
                    <a:pt x="2032002" y="1457329"/>
                  </a:lnTo>
                  <a:close/>
                  <a:moveTo>
                    <a:pt x="0" y="0"/>
                  </a:moveTo>
                  <a:lnTo>
                    <a:pt x="2032000" y="0"/>
                  </a:lnTo>
                  <a:lnTo>
                    <a:pt x="203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B0BEA2"/>
            </a:solidFill>
            <a:ln>
              <a:noFill/>
            </a:ln>
            <a:effectLst>
              <a:outerShdw blurRad="1270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Baskerville Old Face" panose="02020602080505020303" pitchFamily="18" charset="0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D74A6FE-FF57-EEAE-20F7-FF483AAB1299}"/>
                </a:ext>
              </a:extLst>
            </p:cNvPr>
            <p:cNvSpPr txBox="1"/>
            <p:nvPr/>
          </p:nvSpPr>
          <p:spPr>
            <a:xfrm>
              <a:off x="2323624" y="829803"/>
              <a:ext cx="15484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skerville Old Face" panose="02020602080505020303" pitchFamily="18" charset="0"/>
                  <a:ea typeface="Microsoft Sans Serif" panose="020B0604020202020204" pitchFamily="34" charset="0"/>
                  <a:cs typeface="Arial" panose="020B0604020202020204" pitchFamily="34" charset="0"/>
                </a:rPr>
                <a:t>Stage 2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5BAD9E3-89F3-D18D-EA8E-2433DF63B0F8}"/>
                </a:ext>
              </a:extLst>
            </p:cNvPr>
            <p:cNvSpPr txBox="1"/>
            <p:nvPr/>
          </p:nvSpPr>
          <p:spPr>
            <a:xfrm>
              <a:off x="2323624" y="2547256"/>
              <a:ext cx="1449864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skerville Old Face" panose="02020602080505020303" pitchFamily="18" charset="0"/>
                </a:rPr>
                <a:t>Project Mission &amp; Analytical Objectives </a:t>
              </a:r>
              <a:endPara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BB1B299-874B-D622-509E-6A474473E84E}"/>
              </a:ext>
            </a:extLst>
          </p:cNvPr>
          <p:cNvGrpSpPr/>
          <p:nvPr/>
        </p:nvGrpSpPr>
        <p:grpSpPr>
          <a:xfrm>
            <a:off x="0" y="0"/>
            <a:ext cx="2322513" cy="6858000"/>
            <a:chOff x="0" y="0"/>
            <a:chExt cx="2322513" cy="6858000"/>
          </a:xfrm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BF00E20D-4547-295A-FF05-90471686C51A}"/>
                </a:ext>
              </a:extLst>
            </p:cNvPr>
            <p:cNvSpPr/>
            <p:nvPr/>
          </p:nvSpPr>
          <p:spPr>
            <a:xfrm>
              <a:off x="0" y="0"/>
              <a:ext cx="2322513" cy="6858000"/>
            </a:xfrm>
            <a:custGeom>
              <a:avLst/>
              <a:gdLst>
                <a:gd name="csX0" fmla="*/ 0 w 2322513"/>
                <a:gd name="csY0" fmla="*/ 0 h 6858000"/>
                <a:gd name="csX1" fmla="*/ 2032000 w 2322513"/>
                <a:gd name="csY1" fmla="*/ 0 h 6858000"/>
                <a:gd name="csX2" fmla="*/ 2032000 w 2322513"/>
                <a:gd name="csY2" fmla="*/ 852489 h 6858000"/>
                <a:gd name="csX3" fmla="*/ 2322513 w 2322513"/>
                <a:gd name="csY3" fmla="*/ 1154909 h 6858000"/>
                <a:gd name="csX4" fmla="*/ 2032000 w 2322513"/>
                <a:gd name="csY4" fmla="*/ 1457328 h 6858000"/>
                <a:gd name="csX5" fmla="*/ 2032000 w 2322513"/>
                <a:gd name="csY5" fmla="*/ 6858000 h 6858000"/>
                <a:gd name="csX6" fmla="*/ 0 w 2322513"/>
                <a:gd name="csY6" fmla="*/ 685800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322513" h="6858000">
                  <a:moveTo>
                    <a:pt x="0" y="0"/>
                  </a:moveTo>
                  <a:lnTo>
                    <a:pt x="2032000" y="0"/>
                  </a:lnTo>
                  <a:lnTo>
                    <a:pt x="2032000" y="852489"/>
                  </a:lnTo>
                  <a:lnTo>
                    <a:pt x="2322513" y="1154909"/>
                  </a:lnTo>
                  <a:lnTo>
                    <a:pt x="2032000" y="1457328"/>
                  </a:lnTo>
                  <a:lnTo>
                    <a:pt x="203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D4D1CC"/>
            </a:solidFill>
            <a:ln>
              <a:noFill/>
            </a:ln>
            <a:effectLst>
              <a:outerShdw blurRad="1270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ysClr val="windowText" lastClr="000000"/>
                </a:solidFill>
                <a:latin typeface="Baskerville Old Face" panose="02020602080505020303" pitchFamily="18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371A316F-38F1-E7E6-0A6F-E17FD9B89C5D}"/>
                </a:ext>
              </a:extLst>
            </p:cNvPr>
            <p:cNvSpPr txBox="1"/>
            <p:nvPr/>
          </p:nvSpPr>
          <p:spPr>
            <a:xfrm>
              <a:off x="291624" y="829803"/>
              <a:ext cx="15484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skerville Old Face" panose="02020602080505020303" pitchFamily="18" charset="0"/>
                  <a:ea typeface="Microsoft Sans Serif" panose="020B0604020202020204" pitchFamily="34" charset="0"/>
                  <a:cs typeface="Arial" panose="020B0604020202020204" pitchFamily="34" charset="0"/>
                </a:rPr>
                <a:t>Stage 1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320931F-2AF6-BFE1-A1F6-52E2DD7CE607}"/>
                </a:ext>
              </a:extLst>
            </p:cNvPr>
            <p:cNvSpPr txBox="1"/>
            <p:nvPr/>
          </p:nvSpPr>
          <p:spPr>
            <a:xfrm>
              <a:off x="291624" y="2547257"/>
              <a:ext cx="144986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skerville Old Face" panose="02020602080505020303" pitchFamily="18" charset="0"/>
                </a:rPr>
                <a:t>Business Problem Statement 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CB6C093-B42E-232F-7DE7-725EDB5F762E}"/>
              </a:ext>
            </a:extLst>
          </p:cNvPr>
          <p:cNvGrpSpPr/>
          <p:nvPr/>
        </p:nvGrpSpPr>
        <p:grpSpPr>
          <a:xfrm>
            <a:off x="12857107" y="1903248"/>
            <a:ext cx="4306762" cy="2488345"/>
            <a:chOff x="5746558" y="1616231"/>
            <a:chExt cx="4306762" cy="248834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0BFDAFB-9A79-CDA1-B1F1-271C799EA29D}"/>
                </a:ext>
              </a:extLst>
            </p:cNvPr>
            <p:cNvSpPr txBox="1"/>
            <p:nvPr/>
          </p:nvSpPr>
          <p:spPr>
            <a:xfrm>
              <a:off x="5746558" y="3181246"/>
              <a:ext cx="4306762" cy="923330"/>
            </a:xfrm>
            <a:prstGeom prst="rect">
              <a:avLst/>
            </a:prstGeom>
            <a:noFill/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b="1" i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rush Script MT" panose="03060802040406070304" pitchFamily="66" charset="0"/>
                  <a:ea typeface="Microsoft Sans Serif" panose="020B0604020202020204" pitchFamily="34" charset="0"/>
                  <a:cs typeface="Arabic Typesetting" panose="03020402040406030203" pitchFamily="66" charset="-78"/>
                </a:rPr>
                <a:t>Analytical Stages</a:t>
              </a:r>
              <a:endParaRPr lang="en-US" sz="4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ush Script MT" panose="03060802040406070304" pitchFamily="66" charset="0"/>
                <a:ea typeface="Microsoft Sans Serif" panose="020B0604020202020204" pitchFamily="34" charset="0"/>
                <a:cs typeface="Arabic Typesetting" panose="03020402040406030203" pitchFamily="66" charset="-78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68DB780-FD61-7416-710D-E3B59254446E}"/>
                </a:ext>
              </a:extLst>
            </p:cNvPr>
            <p:cNvSpPr txBox="1"/>
            <p:nvPr/>
          </p:nvSpPr>
          <p:spPr>
            <a:xfrm>
              <a:off x="6198678" y="1616231"/>
              <a:ext cx="3402522" cy="2215991"/>
            </a:xfrm>
            <a:prstGeom prst="rect">
              <a:avLst/>
            </a:prstGeom>
            <a:noFill/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Franklin Gothic Heavy" panose="020B09030201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SIX</a:t>
              </a:r>
              <a:endParaRPr lang="en-US" sz="1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anose="020B09030201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9194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5E5CD2-162F-78D1-B26A-D7F7CB3AA6C2}"/>
              </a:ext>
            </a:extLst>
          </p:cNvPr>
          <p:cNvSpPr txBox="1"/>
          <p:nvPr/>
        </p:nvSpPr>
        <p:spPr>
          <a:xfrm>
            <a:off x="2111829" y="315686"/>
            <a:ext cx="79683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Stage 1 : Business Problem Statement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95BED9-274F-F13F-CFD3-66B82502170C}"/>
              </a:ext>
            </a:extLst>
          </p:cNvPr>
          <p:cNvSpPr txBox="1"/>
          <p:nvPr/>
        </p:nvSpPr>
        <p:spPr>
          <a:xfrm>
            <a:off x="609600" y="1124339"/>
            <a:ext cx="109728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The real estate company sells units through installment plans. However, the collection data is stored across multiple project worksheets, making it difficult to monitor the overall collection performance.</a:t>
            </a:r>
          </a:p>
          <a:p>
            <a:endParaRPr 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skerville Old Face" panose="02020602080505020303" pitchFamily="18" charset="0"/>
            </a:endParaRPr>
          </a:p>
          <a:p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The main business challenges are: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Data is distributed across 8 project worksheets.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Installment information is stored in multiple columns and different business states.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Management needs to identify paid, due, and not-yet-due installments.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It is difficult to monitor collected and outstanding amounts in one place.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Management needs visibility into bank exposure and project progress.</a:t>
            </a:r>
          </a:p>
          <a:p>
            <a:pPr lvl="0"/>
            <a:endParaRPr 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skerville Old Face" panose="02020602080505020303" pitchFamily="18" charset="0"/>
            </a:endParaRPr>
          </a:p>
          <a:p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The company needs a unified solution that provides a clear view of sales, collections, outstanding balances, and project performance.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B7BF944-0CD7-A44F-2EB4-F3EE2D9048D8}"/>
              </a:ext>
            </a:extLst>
          </p:cNvPr>
          <p:cNvCxnSpPr>
            <a:cxnSpLocks/>
          </p:cNvCxnSpPr>
          <p:nvPr/>
        </p:nvCxnSpPr>
        <p:spPr>
          <a:xfrm>
            <a:off x="2453601" y="5719078"/>
            <a:ext cx="85157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1E37C53-F65C-666D-991D-2C15D570D064}"/>
              </a:ext>
            </a:extLst>
          </p:cNvPr>
          <p:cNvCxnSpPr>
            <a:cxnSpLocks/>
          </p:cNvCxnSpPr>
          <p:nvPr/>
        </p:nvCxnSpPr>
        <p:spPr>
          <a:xfrm>
            <a:off x="5619750" y="5719078"/>
            <a:ext cx="9963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AE8C172-7A8A-B14C-8E0E-90194270911A}"/>
              </a:ext>
            </a:extLst>
          </p:cNvPr>
          <p:cNvSpPr/>
          <p:nvPr/>
        </p:nvSpPr>
        <p:spPr>
          <a:xfrm>
            <a:off x="276225" y="5276850"/>
            <a:ext cx="2057400" cy="8858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askerville Old Face" panose="02020602080505020303" pitchFamily="18" charset="0"/>
              </a:rPr>
              <a:t>8 Project Sheets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764769F-598A-4BE4-ADE3-29654B53CB45}"/>
              </a:ext>
            </a:extLst>
          </p:cNvPr>
          <p:cNvSpPr/>
          <p:nvPr/>
        </p:nvSpPr>
        <p:spPr>
          <a:xfrm>
            <a:off x="3425151" y="5276168"/>
            <a:ext cx="2057400" cy="8858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askerville Old Face" panose="02020602080505020303" pitchFamily="18" charset="0"/>
              </a:rPr>
              <a:t>Different Installment Data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44D4654-BF27-D301-2464-545EA156530B}"/>
              </a:ext>
            </a:extLst>
          </p:cNvPr>
          <p:cNvSpPr/>
          <p:nvPr/>
        </p:nvSpPr>
        <p:spPr>
          <a:xfrm>
            <a:off x="6753264" y="5276168"/>
            <a:ext cx="2057400" cy="8858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askerville Old Face" panose="02020602080505020303" pitchFamily="18" charset="0"/>
              </a:rPr>
              <a:t>Difficult Analysis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09BDAEA-4967-F22A-3A5E-25EFCCDAE807}"/>
              </a:ext>
            </a:extLst>
          </p:cNvPr>
          <p:cNvCxnSpPr>
            <a:cxnSpLocks/>
          </p:cNvCxnSpPr>
          <p:nvPr/>
        </p:nvCxnSpPr>
        <p:spPr>
          <a:xfrm>
            <a:off x="8905875" y="5719078"/>
            <a:ext cx="9963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ECC324A-3E8E-582F-09F1-D964D01CA546}"/>
              </a:ext>
            </a:extLst>
          </p:cNvPr>
          <p:cNvSpPr/>
          <p:nvPr/>
        </p:nvSpPr>
        <p:spPr>
          <a:xfrm>
            <a:off x="9997401" y="5276168"/>
            <a:ext cx="2057400" cy="8858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askerville Old Face" panose="02020602080505020303" pitchFamily="18" charset="0"/>
              </a:rPr>
              <a:t>Need for Unified Dashboard</a:t>
            </a:r>
          </a:p>
        </p:txBody>
      </p:sp>
    </p:spTree>
    <p:extLst>
      <p:ext uri="{BB962C8B-B14F-4D97-AF65-F5344CB8AC3E}">
        <p14:creationId xmlns:p14="http://schemas.microsoft.com/office/powerpoint/2010/main" val="233858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9281A-0924-7C77-E8B1-7E0EBC805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E91900-38E3-3AB1-1C8D-2854123E3B16}"/>
              </a:ext>
            </a:extLst>
          </p:cNvPr>
          <p:cNvSpPr txBox="1"/>
          <p:nvPr/>
        </p:nvSpPr>
        <p:spPr>
          <a:xfrm>
            <a:off x="1122589" y="287111"/>
            <a:ext cx="99468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Stage 2 : Project Mission &amp; Analytical 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E83A5D-4D01-6811-A645-7BD7885E5860}"/>
              </a:ext>
            </a:extLst>
          </p:cNvPr>
          <p:cNvSpPr txBox="1"/>
          <p:nvPr/>
        </p:nvSpPr>
        <p:spPr>
          <a:xfrm>
            <a:off x="781049" y="1089898"/>
            <a:ext cx="1062990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Project 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To build a unified Power BI dashboard that helps management monitor sales performance, installment collections, outstanding balances, bank exposure, and project progress across all real estate projects.</a:t>
            </a:r>
          </a:p>
          <a:p>
            <a:endParaRPr 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skerville Old Face" panose="02020602080505020303" pitchFamily="18" charset="0"/>
            </a:endParaRPr>
          </a:p>
          <a:p>
            <a:r>
              <a:rPr lang="en-US" sz="2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Analytical Objectives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Analyze sales performance across projects.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Measure the number and percentage of sold units.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Track issued and collected installments.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Calculate collected and outstanding amounts.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Measure collection rate and outstanding percentage.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Monitor project completion percentage.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Separate Cash and Bank-financed sales.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Analyze outstanding balances by bank.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Compare collection performance between Old and New periods.</a:t>
            </a:r>
          </a:p>
        </p:txBody>
      </p:sp>
    </p:spTree>
    <p:extLst>
      <p:ext uri="{BB962C8B-B14F-4D97-AF65-F5344CB8AC3E}">
        <p14:creationId xmlns:p14="http://schemas.microsoft.com/office/powerpoint/2010/main" val="3420840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707F0-A478-AAED-13F4-CAB6A2432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393BF8-2FFD-0373-6018-6FF5FBD86B42}"/>
              </a:ext>
            </a:extLst>
          </p:cNvPr>
          <p:cNvSpPr txBox="1"/>
          <p:nvPr/>
        </p:nvSpPr>
        <p:spPr>
          <a:xfrm>
            <a:off x="1122589" y="287111"/>
            <a:ext cx="99468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Stage 3 : Ingestion &amp; Data Transformation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E16C1F-C392-987C-88F7-1C8D3FAD8924}"/>
              </a:ext>
            </a:extLst>
          </p:cNvPr>
          <p:cNvSpPr txBox="1"/>
          <p:nvPr/>
        </p:nvSpPr>
        <p:spPr>
          <a:xfrm>
            <a:off x="781049" y="1382286"/>
            <a:ext cx="106299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The source data contains 8 project worksheets with a standard structure of 21 columns.</a:t>
            </a:r>
          </a:p>
          <a:p>
            <a:endParaRPr 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skerville Old Face" panose="020206020805050203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The main data preparation steps were: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Explore and understand the structure of all project worksheets.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Remove the 3 control rows from customer-level data.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Standardize data types such as dates, currencies, and contract numbers.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Clean and standardize bank names and payment methods.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Unpivot Installment 1 to Installment 7 into a vertical structure.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Create an installment classification based on three business states:</a:t>
            </a:r>
          </a:p>
          <a:p>
            <a:pPr lvl="1"/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PAID</a:t>
            </a:r>
          </a:p>
          <a:p>
            <a:pPr lvl="1"/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DUE - NOT PAID</a:t>
            </a:r>
          </a:p>
          <a:p>
            <a:pPr lvl="1"/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NOT DUE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Prepare clean data for the dimensional model and Power BI analysis.</a:t>
            </a:r>
          </a:p>
        </p:txBody>
      </p:sp>
    </p:spTree>
    <p:extLst>
      <p:ext uri="{BB962C8B-B14F-4D97-AF65-F5344CB8AC3E}">
        <p14:creationId xmlns:p14="http://schemas.microsoft.com/office/powerpoint/2010/main" val="703543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BD031-6598-122B-22B8-4F1FB645F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04EDFB-C292-9A5D-39AF-C842434772FB}"/>
              </a:ext>
            </a:extLst>
          </p:cNvPr>
          <p:cNvSpPr txBox="1"/>
          <p:nvPr/>
        </p:nvSpPr>
        <p:spPr>
          <a:xfrm>
            <a:off x="1122589" y="287111"/>
            <a:ext cx="99468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Stage 3 : Ingestion &amp; Data Transformation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C675FD-358C-03CC-4821-6EB4F1A09426}"/>
              </a:ext>
            </a:extLst>
          </p:cNvPr>
          <p:cNvSpPr txBox="1"/>
          <p:nvPr/>
        </p:nvSpPr>
        <p:spPr>
          <a:xfrm>
            <a:off x="781049" y="1382286"/>
            <a:ext cx="10629900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We have done some steps of cleaning like: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Change datatype of (</a:t>
            </a:r>
            <a:r>
              <a:rPr lang="ar-E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رقم الهوية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)  from int to string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Change datatype of (</a:t>
            </a:r>
            <a:r>
              <a:rPr lang="ar-E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نسبة الانجاز من الاستشاري الهندسي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) from decimal number to percentage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Change datatype of (POC) from decimal number to percentage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We isolate the control rows to another file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We did unpivot for the installments into a vertical tabular format (Customer ID, Unit Number, Installment Number, Raw Value).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We create conditional classification rules for each installment row: PAID: Issued and collected. DUE - NOT PAID: Issued and outstanding. NOT DUE: Not yet payable (excluded from issued invoice counts) using this formula:</a:t>
            </a:r>
          </a:p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if Text.Contains(Text.From([Raw Value]), "</a:t>
            </a:r>
            <a:r>
              <a:rPr lang="ar-SA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تم السداد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") then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skerville Old Face" panose="02020602080505020303" pitchFamily="18" charset="0"/>
            </a:endParaRPr>
          </a:p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    "PAID"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skerville Old Face" panose="02020602080505020303" pitchFamily="18" charset="0"/>
            </a:endParaRPr>
          </a:p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else if Text.Contains(Text.From([Raw Value]), "</a:t>
            </a:r>
            <a:r>
              <a:rPr lang="ar-SA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غير مستحقة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") then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skerville Old Face" panose="02020602080505020303" pitchFamily="18" charset="0"/>
            </a:endParaRPr>
          </a:p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    "NOT DUE"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skerville Old Face" panose="02020602080505020303" pitchFamily="18" charset="0"/>
            </a:endParaRPr>
          </a:p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else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skerville Old Face" panose="02020602080505020303" pitchFamily="18" charset="0"/>
            </a:endParaRPr>
          </a:p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    "DUE – NOT PAID"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skerville Old Face" panose="02020602080505020303" pitchFamily="18" charset="0"/>
            </a:endParaRP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15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8AB90-DF1E-92F4-AE3C-D95B343DD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69C782-5961-3091-3919-1B7D798E3ED4}"/>
              </a:ext>
            </a:extLst>
          </p:cNvPr>
          <p:cNvSpPr txBox="1"/>
          <p:nvPr/>
        </p:nvSpPr>
        <p:spPr>
          <a:xfrm>
            <a:off x="1122589" y="287111"/>
            <a:ext cx="9946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Data Dictionary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5B7199C-FD36-A1F0-F551-48C03D7582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6737438"/>
              </p:ext>
            </p:extLst>
          </p:nvPr>
        </p:nvGraphicFramePr>
        <p:xfrm>
          <a:off x="645269" y="1460814"/>
          <a:ext cx="10901460" cy="525344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984339">
                  <a:extLst>
                    <a:ext uri="{9D8B030D-6E8A-4147-A177-3AD203B41FA5}">
                      <a16:colId xmlns:a16="http://schemas.microsoft.com/office/drawing/2014/main" val="1167769208"/>
                    </a:ext>
                  </a:extLst>
                </a:gridCol>
                <a:gridCol w="3580280">
                  <a:extLst>
                    <a:ext uri="{9D8B030D-6E8A-4147-A177-3AD203B41FA5}">
                      <a16:colId xmlns:a16="http://schemas.microsoft.com/office/drawing/2014/main" val="2955908586"/>
                    </a:ext>
                  </a:extLst>
                </a:gridCol>
                <a:gridCol w="4336841">
                  <a:extLst>
                    <a:ext uri="{9D8B030D-6E8A-4147-A177-3AD203B41FA5}">
                      <a16:colId xmlns:a16="http://schemas.microsoft.com/office/drawing/2014/main" val="1009570837"/>
                    </a:ext>
                  </a:extLst>
                </a:gridCol>
              </a:tblGrid>
              <a:tr h="57199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Baskerville Old Face" panose="02020602080505020303" pitchFamily="18" charset="0"/>
                        </a:rPr>
                        <a:t>Row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9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Baskerville Old Face" panose="02020602080505020303" pitchFamily="18" charset="0"/>
                        </a:rPr>
                        <a:t>Row name after cleaning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9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Baskerville Old Face" panose="02020602080505020303" pitchFamily="18" charset="0"/>
                        </a:rPr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9F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940689"/>
                  </a:ext>
                </a:extLst>
              </a:tr>
              <a:tr h="502510">
                <a:tc>
                  <a:txBody>
                    <a:bodyPr/>
                    <a:lstStyle/>
                    <a:p>
                      <a:pPr algn="ctr"/>
                      <a:r>
                        <a:rPr lang="ar-EG" dirty="0">
                          <a:latin typeface="Baskerville Old Face" panose="02020602080505020303" pitchFamily="18" charset="0"/>
                        </a:rPr>
                        <a:t>اسم العميل</a:t>
                      </a:r>
                      <a:endParaRPr lang="en-US" dirty="0">
                        <a:latin typeface="Baskerville Old Face" panose="020206020805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Baskerville Old Face" panose="02020602080505020303" pitchFamily="18" charset="0"/>
                        </a:rPr>
                        <a:t>Customer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Customer record; control rows are not</a:t>
                      </a:r>
                    </a:p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customers.</a:t>
                      </a:r>
                      <a:endParaRPr lang="en-US" dirty="0">
                        <a:latin typeface="Baskerville Old Face" panose="020206020805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4759421"/>
                  </a:ext>
                </a:extLst>
              </a:tr>
              <a:tr h="326854">
                <a:tc>
                  <a:txBody>
                    <a:bodyPr/>
                    <a:lstStyle/>
                    <a:p>
                      <a:pPr algn="ctr"/>
                      <a:r>
                        <a:rPr lang="ar-EG" dirty="0">
                          <a:latin typeface="Baskerville Old Face" panose="02020602080505020303" pitchFamily="18" charset="0"/>
                        </a:rPr>
                        <a:t>رقم الهوية</a:t>
                      </a:r>
                      <a:endParaRPr lang="en-US" dirty="0">
                        <a:latin typeface="Baskerville Old Face" panose="020206020805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Baskerville Old Face" panose="02020602080505020303" pitchFamily="18" charset="0"/>
                        </a:rPr>
                        <a:t>National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Customer identification value</a:t>
                      </a:r>
                      <a:endParaRPr lang="en-US" dirty="0">
                        <a:latin typeface="Baskerville Old Face" panose="020206020805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4978557"/>
                  </a:ext>
                </a:extLst>
              </a:tr>
              <a:tr h="326854">
                <a:tc>
                  <a:txBody>
                    <a:bodyPr/>
                    <a:lstStyle/>
                    <a:p>
                      <a:pPr algn="ctr"/>
                      <a:r>
                        <a:rPr lang="ar-EG" dirty="0">
                          <a:latin typeface="Baskerville Old Face" panose="02020602080505020303" pitchFamily="18" charset="0"/>
                        </a:rPr>
                        <a:t>رقم الوحدة</a:t>
                      </a:r>
                      <a:endParaRPr lang="en-US" dirty="0">
                        <a:latin typeface="Baskerville Old Face" panose="020206020805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Baskerville Old Face" panose="02020602080505020303" pitchFamily="18" charset="0"/>
                        </a:rPr>
                        <a:t>Unit 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Business unit number.</a:t>
                      </a:r>
                      <a:endParaRPr lang="en-US" dirty="0">
                        <a:latin typeface="Baskerville Old Face" panose="020206020805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9798475"/>
                  </a:ext>
                </a:extLst>
              </a:tr>
              <a:tr h="326854">
                <a:tc>
                  <a:txBody>
                    <a:bodyPr/>
                    <a:lstStyle/>
                    <a:p>
                      <a:pPr algn="ctr"/>
                      <a:r>
                        <a:rPr lang="ar-EG" dirty="0">
                          <a:latin typeface="Baskerville Old Face" panose="02020602080505020303" pitchFamily="18" charset="0"/>
                        </a:rPr>
                        <a:t>كود الوحدة</a:t>
                      </a:r>
                      <a:endParaRPr lang="en-US" dirty="0">
                        <a:latin typeface="Baskerville Old Face" panose="020206020805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Baskerville Old Face" panose="02020602080505020303" pitchFamily="18" charset="0"/>
                        </a:rPr>
                        <a:t>Unit 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Additional unit reference.</a:t>
                      </a:r>
                      <a:endParaRPr lang="en-US" dirty="0">
                        <a:latin typeface="Baskerville Old Face" panose="020206020805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3500333"/>
                  </a:ext>
                </a:extLst>
              </a:tr>
              <a:tr h="326854">
                <a:tc>
                  <a:txBody>
                    <a:bodyPr/>
                    <a:lstStyle/>
                    <a:p>
                      <a:pPr algn="ctr"/>
                      <a:r>
                        <a:rPr lang="ar-EG" dirty="0">
                          <a:latin typeface="Baskerville Old Face" panose="02020602080505020303" pitchFamily="18" charset="0"/>
                        </a:rPr>
                        <a:t>سعر الوحدة</a:t>
                      </a:r>
                      <a:endParaRPr lang="en-US" dirty="0">
                        <a:latin typeface="Baskerville Old Face" panose="020206020805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Baskerville Old Face" panose="02020602080505020303" pitchFamily="18" charset="0"/>
                        </a:rPr>
                        <a:t>Unit Price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Selling price of the unit.</a:t>
                      </a:r>
                      <a:endParaRPr lang="en-US" dirty="0">
                        <a:latin typeface="Baskerville Old Face" panose="020206020805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7983202"/>
                  </a:ext>
                </a:extLst>
              </a:tr>
              <a:tr h="717872">
                <a:tc>
                  <a:txBody>
                    <a:bodyPr/>
                    <a:lstStyle/>
                    <a:p>
                      <a:pPr algn="ctr"/>
                      <a:r>
                        <a:rPr lang="ar-EG" dirty="0">
                          <a:latin typeface="Baskerville Old Face" panose="02020602080505020303" pitchFamily="18" charset="0"/>
                        </a:rPr>
                        <a:t>نسبة الانجاز من الاستشاري الهندسي</a:t>
                      </a:r>
                      <a:endParaRPr lang="en-US" dirty="0">
                        <a:latin typeface="Baskerville Old Face" panose="020206020805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Baskerville Old Face" panose="02020602080505020303" pitchFamily="18" charset="0"/>
                        </a:rPr>
                        <a:t>Consultant Progress Percentage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% co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mpletion value received from</a:t>
                      </a:r>
                    </a:p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engineering.</a:t>
                      </a:r>
                      <a:endParaRPr lang="en-US" dirty="0">
                        <a:latin typeface="Baskerville Old Face" panose="020206020805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884135"/>
                  </a:ext>
                </a:extLst>
              </a:tr>
              <a:tr h="502510">
                <a:tc>
                  <a:txBody>
                    <a:bodyPr/>
                    <a:lstStyle/>
                    <a:p>
                      <a:pPr algn="ctr"/>
                      <a:r>
                        <a:rPr lang="ar-EG" dirty="0">
                          <a:latin typeface="Baskerville Old Face" panose="02020602080505020303" pitchFamily="18" charset="0"/>
                        </a:rPr>
                        <a:t>جدول الدفعات</a:t>
                      </a:r>
                      <a:endParaRPr lang="en-US" dirty="0">
                        <a:latin typeface="Baskerville Old Face" panose="020206020805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Baskerville Old Face" panose="02020602080505020303" pitchFamily="18" charset="0"/>
                        </a:rPr>
                        <a:t>Payment Schedule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Installment percentage plan.</a:t>
                      </a:r>
                      <a:endParaRPr lang="en-US" dirty="0">
                        <a:latin typeface="Baskerville Old Face" panose="020206020805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8604456"/>
                  </a:ext>
                </a:extLst>
              </a:tr>
              <a:tr h="502510">
                <a:tc>
                  <a:txBody>
                    <a:bodyPr/>
                    <a:lstStyle/>
                    <a:p>
                      <a:pPr algn="ctr"/>
                      <a:r>
                        <a:rPr lang="ar-EG" dirty="0">
                          <a:latin typeface="Baskerville Old Face" panose="02020602080505020303" pitchFamily="18" charset="0"/>
                        </a:rPr>
                        <a:t>الدفعة + رقم</a:t>
                      </a:r>
                      <a:endParaRPr lang="en-US" dirty="0">
                        <a:latin typeface="Baskerville Old Face" panose="020206020805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Baskerville Old Face" panose="02020602080505020303" pitchFamily="18" charset="0"/>
                        </a:rPr>
                        <a:t>Installment 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Seven cells containing installment state</a:t>
                      </a:r>
                    </a:p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and/or value.</a:t>
                      </a:r>
                      <a:endParaRPr lang="en-US" dirty="0">
                        <a:latin typeface="Baskerville Old Face" panose="020206020805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3375919"/>
                  </a:ext>
                </a:extLst>
              </a:tr>
              <a:tr h="717872">
                <a:tc>
                  <a:txBody>
                    <a:bodyPr/>
                    <a:lstStyle/>
                    <a:p>
                      <a:pPr algn="ctr"/>
                      <a:r>
                        <a:rPr lang="ar-EG" dirty="0">
                          <a:latin typeface="Baskerville Old Face" panose="02020602080505020303" pitchFamily="18" charset="0"/>
                        </a:rPr>
                        <a:t>مجموع الدفعات المستحقة</a:t>
                      </a:r>
                      <a:endParaRPr lang="en-US" dirty="0">
                        <a:latin typeface="Baskerville Old Face" panose="020206020805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Baskerville Old Face" panose="02020602080505020303" pitchFamily="18" charset="0"/>
                        </a:rPr>
                        <a:t>Total Outstanding Payments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Total amount currently due for the</a:t>
                      </a:r>
                    </a:p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customer.</a:t>
                      </a:r>
                      <a:endParaRPr lang="en-US" dirty="0">
                        <a:latin typeface="Baskerville Old Face" panose="020206020805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1439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5983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76B96-B0B1-3CFA-2EE7-AEEA5F599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DE500A-7580-0FCF-4D43-52FF78FC4964}"/>
              </a:ext>
            </a:extLst>
          </p:cNvPr>
          <p:cNvSpPr txBox="1"/>
          <p:nvPr/>
        </p:nvSpPr>
        <p:spPr>
          <a:xfrm>
            <a:off x="1122589" y="287111"/>
            <a:ext cx="9946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Data Dictionary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0E8E1B0-6493-4A25-DF58-52EFD54476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1529658"/>
              </p:ext>
            </p:extLst>
          </p:nvPr>
        </p:nvGraphicFramePr>
        <p:xfrm>
          <a:off x="753651" y="2222942"/>
          <a:ext cx="10900284" cy="286004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161606">
                  <a:extLst>
                    <a:ext uri="{9D8B030D-6E8A-4147-A177-3AD203B41FA5}">
                      <a16:colId xmlns:a16="http://schemas.microsoft.com/office/drawing/2014/main" val="1167769208"/>
                    </a:ext>
                  </a:extLst>
                </a:gridCol>
                <a:gridCol w="2582637">
                  <a:extLst>
                    <a:ext uri="{9D8B030D-6E8A-4147-A177-3AD203B41FA5}">
                      <a16:colId xmlns:a16="http://schemas.microsoft.com/office/drawing/2014/main" val="2955908586"/>
                    </a:ext>
                  </a:extLst>
                </a:gridCol>
                <a:gridCol w="6156041">
                  <a:extLst>
                    <a:ext uri="{9D8B030D-6E8A-4147-A177-3AD203B41FA5}">
                      <a16:colId xmlns:a16="http://schemas.microsoft.com/office/drawing/2014/main" val="5689974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Baskerville Old Face" panose="02020602080505020303" pitchFamily="18" charset="0"/>
                          <a:cs typeface="+mj-cs"/>
                        </a:rPr>
                        <a:t>Row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9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Baskerville Old Face" panose="02020602080505020303" pitchFamily="18" charset="0"/>
                          <a:cs typeface="+mj-cs"/>
                        </a:rPr>
                        <a:t>Row name after cleaning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9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Baskerville Old Face" panose="02020602080505020303" pitchFamily="18" charset="0"/>
                          <a:cs typeface="+mj-cs"/>
                        </a:rPr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9F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940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EG" dirty="0">
                          <a:latin typeface="Baskerville Old Face" panose="02020602080505020303" pitchFamily="18" charset="0"/>
                          <a:cs typeface="+mj-cs"/>
                        </a:rPr>
                        <a:t>مجموع الدفعات المدفوعة</a:t>
                      </a:r>
                      <a:endParaRPr lang="en-US" dirty="0">
                        <a:latin typeface="Baskerville Old Face" panose="02020602080505020303" pitchFamily="18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Baskerville Old Face" panose="02020602080505020303" pitchFamily="18" charset="0"/>
                          <a:cs typeface="+mj-cs"/>
                        </a:rPr>
                        <a:t>Total Payments Made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Baskerville Old Face" panose="02020602080505020303" pitchFamily="18" charset="0"/>
                          <a:ea typeface="+mn-ea"/>
                          <a:cs typeface="+mj-cs"/>
                        </a:rPr>
                        <a:t>Total amount already collected.</a:t>
                      </a:r>
                      <a:endParaRPr lang="en-US" dirty="0">
                        <a:latin typeface="Baskerville Old Face" panose="02020602080505020303" pitchFamily="18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4759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EG" dirty="0">
                          <a:latin typeface="Baskerville Old Face" panose="02020602080505020303" pitchFamily="18" charset="0"/>
                          <a:cs typeface="+mj-cs"/>
                        </a:rPr>
                        <a:t>البنك</a:t>
                      </a:r>
                      <a:endParaRPr lang="en-US" dirty="0">
                        <a:latin typeface="Baskerville Old Face" panose="02020602080505020303" pitchFamily="18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Baskerville Old Face" panose="02020602080505020303" pitchFamily="18" charset="0"/>
                          <a:cs typeface="+mj-cs"/>
                        </a:rPr>
                        <a:t>Bank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Baskerville Old Face" panose="02020602080505020303" pitchFamily="18" charset="0"/>
                          <a:ea typeface="+mn-ea"/>
                          <a:cs typeface="+mj-cs"/>
                        </a:rPr>
                        <a:t>Cash or financing bank.</a:t>
                      </a:r>
                      <a:endParaRPr lang="en-US" dirty="0">
                        <a:latin typeface="Baskerville Old Face" panose="02020602080505020303" pitchFamily="18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4978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EG" dirty="0">
                          <a:latin typeface="Baskerville Old Face" panose="02020602080505020303" pitchFamily="18" charset="0"/>
                          <a:cs typeface="+mj-cs"/>
                        </a:rPr>
                        <a:t>تاريخ عقد البيع</a:t>
                      </a:r>
                      <a:endParaRPr lang="en-US" dirty="0">
                        <a:latin typeface="Baskerville Old Face" panose="02020602080505020303" pitchFamily="18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Baskerville Old Face" panose="02020602080505020303" pitchFamily="18" charset="0"/>
                          <a:cs typeface="+mj-cs"/>
                        </a:rPr>
                        <a:t>Date of Contract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Baskerville Old Face" panose="02020602080505020303" pitchFamily="18" charset="0"/>
                          <a:ea typeface="+mn-ea"/>
                          <a:cs typeface="+mj-cs"/>
                        </a:rPr>
                        <a:t>Date of the sales contract.</a:t>
                      </a:r>
                      <a:endParaRPr lang="en-US" dirty="0">
                        <a:latin typeface="Baskerville Old Face" panose="02020602080505020303" pitchFamily="18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9798475"/>
                  </a:ext>
                </a:extLst>
              </a:tr>
              <a:tr h="40168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Baskerville Old Face" panose="02020602080505020303" pitchFamily="18" charset="0"/>
                          <a:cs typeface="+mj-cs"/>
                        </a:rPr>
                        <a:t>POC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Baskerville Old Face" panose="02020602080505020303" pitchFamily="18" charset="0"/>
                          <a:cs typeface="+mj-cs"/>
                        </a:rPr>
                        <a:t>Project Completion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Baskerville Old Face" panose="02020602080505020303" pitchFamily="18" charset="0"/>
                          <a:ea typeface="+mn-ea"/>
                          <a:cs typeface="+mj-cs"/>
                        </a:rPr>
                        <a:t>Percentage of completion used in the</a:t>
                      </a:r>
                    </a:p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Baskerville Old Face" panose="02020602080505020303" pitchFamily="18" charset="0"/>
                          <a:ea typeface="+mn-ea"/>
                          <a:cs typeface="+mj-cs"/>
                        </a:rPr>
                        <a:t>report KPI.</a:t>
                      </a:r>
                      <a:endParaRPr lang="en-US" dirty="0">
                        <a:latin typeface="Baskerville Old Face" panose="02020602080505020303" pitchFamily="18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3500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EG" dirty="0">
                          <a:latin typeface="Baskerville Old Face" panose="02020602080505020303" pitchFamily="18" charset="0"/>
                          <a:cs typeface="+mj-cs"/>
                        </a:rPr>
                        <a:t>رقم عقد البيع</a:t>
                      </a:r>
                      <a:endParaRPr lang="en-US" dirty="0">
                        <a:latin typeface="Baskerville Old Face" panose="02020602080505020303" pitchFamily="18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Baskerville Old Face" panose="02020602080505020303" pitchFamily="18" charset="0"/>
                          <a:cs typeface="+mj-cs"/>
                        </a:rPr>
                        <a:t>Sales Contract 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Baskerville Old Face" panose="02020602080505020303" pitchFamily="18" charset="0"/>
                          <a:ea typeface="+mn-ea"/>
                          <a:cs typeface="+mj-cs"/>
                        </a:rPr>
                        <a:t>Contract reference.</a:t>
                      </a:r>
                      <a:endParaRPr lang="en-US" dirty="0">
                        <a:latin typeface="Baskerville Old Face" panose="02020602080505020303" pitchFamily="18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7983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Baskerville Old Face" panose="02020602080505020303" pitchFamily="18" charset="0"/>
                          <a:cs typeface="+mj-cs"/>
                        </a:rPr>
                        <a:t>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Baskerville Old Face" panose="02020602080505020303" pitchFamily="18" charset="0"/>
                          <a:ea typeface="+mn-ea"/>
                          <a:cs typeface="+mj-cs"/>
                        </a:rPr>
                        <a:t>Date</a:t>
                      </a:r>
                      <a:endParaRPr lang="en-US" dirty="0">
                        <a:latin typeface="Baskerville Old Face" panose="02020602080505020303" pitchFamily="18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Baskerville Old Face" panose="02020602080505020303" pitchFamily="18" charset="0"/>
                          <a:ea typeface="+mn-ea"/>
                          <a:cs typeface="+mj-cs"/>
                        </a:rPr>
                        <a:t>Reporting date used in date analysis.</a:t>
                      </a:r>
                      <a:endParaRPr lang="en-US" dirty="0">
                        <a:latin typeface="Baskerville Old Face" panose="02020602080505020303" pitchFamily="18" charset="0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884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584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A9CB7-171A-78E8-C9B2-7E2F490A5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322649-FEE5-DF14-0B77-51DA1712099D}"/>
              </a:ext>
            </a:extLst>
          </p:cNvPr>
          <p:cNvSpPr txBox="1"/>
          <p:nvPr/>
        </p:nvSpPr>
        <p:spPr>
          <a:xfrm>
            <a:off x="1122589" y="287111"/>
            <a:ext cx="99468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Stage 4 : DAX Business Logic &amp; Measures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839017F-BD02-A24D-287B-80464FB7FB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6599688"/>
              </p:ext>
            </p:extLst>
          </p:nvPr>
        </p:nvGraphicFramePr>
        <p:xfrm>
          <a:off x="428624" y="1144058"/>
          <a:ext cx="11334750" cy="3865033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266950">
                  <a:extLst>
                    <a:ext uri="{9D8B030D-6E8A-4147-A177-3AD203B41FA5}">
                      <a16:colId xmlns:a16="http://schemas.microsoft.com/office/drawing/2014/main" val="2148306205"/>
                    </a:ext>
                  </a:extLst>
                </a:gridCol>
                <a:gridCol w="2266950">
                  <a:extLst>
                    <a:ext uri="{9D8B030D-6E8A-4147-A177-3AD203B41FA5}">
                      <a16:colId xmlns:a16="http://schemas.microsoft.com/office/drawing/2014/main" val="1994521292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1901719373"/>
                    </a:ext>
                  </a:extLst>
                </a:gridCol>
                <a:gridCol w="2343150">
                  <a:extLst>
                    <a:ext uri="{9D8B030D-6E8A-4147-A177-3AD203B41FA5}">
                      <a16:colId xmlns:a16="http://schemas.microsoft.com/office/drawing/2014/main" val="2332531420"/>
                    </a:ext>
                  </a:extLst>
                </a:gridCol>
                <a:gridCol w="2266950">
                  <a:extLst>
                    <a:ext uri="{9D8B030D-6E8A-4147-A177-3AD203B41FA5}">
                      <a16:colId xmlns:a16="http://schemas.microsoft.com/office/drawing/2014/main" val="1993897904"/>
                    </a:ext>
                  </a:extLst>
                </a:gridCol>
              </a:tblGrid>
              <a:tr h="1581534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Baskerville Old Face" panose="02020602080505020303" pitchFamily="18" charset="0"/>
                        </a:rPr>
                        <a:t>Sales Measures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6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Baskerville Old Face" panose="02020602080505020303" pitchFamily="18" charset="0"/>
                        </a:rPr>
                        <a:t>Collection Measures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6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Baskerville Old Face" panose="02020602080505020303" pitchFamily="18" charset="0"/>
                        </a:rPr>
                        <a:t>Amount Measures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6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Baskerville Old Face" panose="02020602080505020303" pitchFamily="18" charset="0"/>
                        </a:rPr>
                        <a:t>Project Measures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6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Baskerville Old Face" panose="02020602080505020303" pitchFamily="18" charset="0"/>
                        </a:rPr>
                        <a:t>Time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6B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22698"/>
                  </a:ext>
                </a:extLst>
              </a:tr>
              <a:tr h="2283499">
                <a:tc>
                  <a:txBody>
                    <a:bodyPr/>
                    <a:lstStyle/>
                    <a:p>
                      <a:pPr marL="285750" lvl="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Baskerville Old Face" panose="02020602080505020303" pitchFamily="18" charset="0"/>
                        </a:rPr>
                        <a:t>Sold Count</a:t>
                      </a:r>
                    </a:p>
                    <a:p>
                      <a:pPr marL="285750" lvl="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Baskerville Old Face" panose="02020602080505020303" pitchFamily="18" charset="0"/>
                        </a:rPr>
                        <a:t>Sold %</a:t>
                      </a:r>
                    </a:p>
                    <a:p>
                      <a:pPr algn="ctr"/>
                      <a:endParaRPr lang="en-US" sz="1800" b="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Baskerville Old Face" panose="020206020805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0BEA2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Baskerville Old Face" panose="02020602080505020303" pitchFamily="18" charset="0"/>
                        </a:rPr>
                        <a:t>Issued Invoices</a:t>
                      </a:r>
                    </a:p>
                    <a:p>
                      <a:pPr marL="285750" lvl="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Baskerville Old Face" panose="02020602080505020303" pitchFamily="18" charset="0"/>
                        </a:rPr>
                        <a:t>Collected Invoices</a:t>
                      </a:r>
                    </a:p>
                    <a:p>
                      <a:pPr marL="285750" lvl="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Baskerville Old Face" panose="02020602080505020303" pitchFamily="18" charset="0"/>
                        </a:rPr>
                        <a:t>Outstanding Invoices</a:t>
                      </a:r>
                    </a:p>
                    <a:p>
                      <a:pPr marL="285750" lvl="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Baskerville Old Face" panose="02020602080505020303" pitchFamily="18" charset="0"/>
                        </a:rPr>
                        <a:t>Collection Rate</a:t>
                      </a:r>
                    </a:p>
                    <a:p>
                      <a:pPr marL="285750" lvl="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Baskerville Old Face" panose="02020602080505020303" pitchFamily="18" charset="0"/>
                        </a:rPr>
                        <a:t>Outstanding %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b="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0BEA2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Baskerville Old Face" panose="02020602080505020303" pitchFamily="18" charset="0"/>
                        </a:rPr>
                        <a:t>Invoiced Amount</a:t>
                      </a:r>
                    </a:p>
                    <a:p>
                      <a:pPr marL="285750" lvl="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Baskerville Old Face" panose="02020602080505020303" pitchFamily="18" charset="0"/>
                        </a:rPr>
                        <a:t>Collected Amount</a:t>
                      </a:r>
                    </a:p>
                    <a:p>
                      <a:pPr marL="285750" lvl="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Baskerville Old Face" panose="02020602080505020303" pitchFamily="18" charset="0"/>
                        </a:rPr>
                        <a:t>Outstanding Amount</a:t>
                      </a:r>
                    </a:p>
                    <a:p>
                      <a:pPr algn="ctr"/>
                      <a:endParaRPr lang="en-US" b="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0BEA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Baskerville Old Face" panose="02020602080505020303" pitchFamily="18" charset="0"/>
                        </a:rPr>
                        <a:t>Project Completion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0BEA2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Baskerville Old Face" panose="02020602080505020303" pitchFamily="18" charset="0"/>
                        </a:rPr>
                        <a:t>Old Records</a:t>
                      </a:r>
                    </a:p>
                    <a:p>
                      <a:pPr marL="285750" lvl="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Baskerville Old Face" panose="02020602080505020303" pitchFamily="18" charset="0"/>
                        </a:rPr>
                        <a:t>New Records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b="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0BE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27775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35C2EB1-06F9-B60B-4058-7728BE1BEC33}"/>
              </a:ext>
            </a:extLst>
          </p:cNvPr>
          <p:cNvSpPr txBox="1"/>
          <p:nvPr/>
        </p:nvSpPr>
        <p:spPr>
          <a:xfrm>
            <a:off x="914400" y="5314950"/>
            <a:ext cx="102298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The measures follow the defined business rules and exclude the three control rows from customer-level calculations.</a:t>
            </a:r>
          </a:p>
        </p:txBody>
      </p:sp>
    </p:spTree>
    <p:extLst>
      <p:ext uri="{BB962C8B-B14F-4D97-AF65-F5344CB8AC3E}">
        <p14:creationId xmlns:p14="http://schemas.microsoft.com/office/powerpoint/2010/main" val="1479270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581BD-B403-5926-8EED-25397E70F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377C47-7AF3-D9E9-7B2C-F67D2207D872}"/>
              </a:ext>
            </a:extLst>
          </p:cNvPr>
          <p:cNvSpPr txBox="1"/>
          <p:nvPr/>
        </p:nvSpPr>
        <p:spPr>
          <a:xfrm>
            <a:off x="1122589" y="287111"/>
            <a:ext cx="99468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Stage 4 : DAX Business Logic &amp; Measures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3B7E94-E779-D8AB-0A3D-BB7245F71E13}"/>
              </a:ext>
            </a:extLst>
          </p:cNvPr>
          <p:cNvSpPr txBox="1"/>
          <p:nvPr/>
        </p:nvSpPr>
        <p:spPr>
          <a:xfrm>
            <a:off x="1194318" y="1156996"/>
            <a:ext cx="2425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Sales Measures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3ECEC9F-0402-7793-E84B-2A1374CCC8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709705"/>
              </p:ext>
            </p:extLst>
          </p:nvPr>
        </p:nvGraphicFramePr>
        <p:xfrm>
          <a:off x="792805" y="2503196"/>
          <a:ext cx="10606388" cy="185160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99788">
                  <a:extLst>
                    <a:ext uri="{9D8B030D-6E8A-4147-A177-3AD203B41FA5}">
                      <a16:colId xmlns:a16="http://schemas.microsoft.com/office/drawing/2014/main" val="1167769208"/>
                    </a:ext>
                  </a:extLst>
                </a:gridCol>
                <a:gridCol w="5306600">
                  <a:extLst>
                    <a:ext uri="{9D8B030D-6E8A-4147-A177-3AD203B41FA5}">
                      <a16:colId xmlns:a16="http://schemas.microsoft.com/office/drawing/2014/main" val="2955908586"/>
                    </a:ext>
                  </a:extLst>
                </a:gridCol>
              </a:tblGrid>
              <a:tr h="41020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Baskerville Old Face" panose="02020602080505020303" pitchFamily="18" charset="0"/>
                          <a:cs typeface="+mj-cs"/>
                        </a:rPr>
                        <a:t>Measure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9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Baskerville Old Face" panose="02020602080505020303" pitchFamily="18" charset="0"/>
                          <a:cs typeface="+mj-cs"/>
                        </a:rPr>
                        <a:t>DAX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9F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940689"/>
                  </a:ext>
                </a:extLst>
              </a:tr>
              <a:tr h="1025506">
                <a:tc>
                  <a:txBody>
                    <a:bodyPr/>
                    <a:lstStyle/>
                    <a:p>
                      <a:pPr marL="0" lv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Baskerville Old Face" panose="02020602080505020303" pitchFamily="18" charset="0"/>
                        </a:rPr>
                        <a:t>Sold Count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CALCULATE(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    DISTINCTCOUNT('FactSales'[UnitKey])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4759421"/>
                  </a:ext>
                </a:extLst>
              </a:tr>
              <a:tr h="415900">
                <a:tc>
                  <a:txBody>
                    <a:bodyPr/>
                    <a:lstStyle/>
                    <a:p>
                      <a:pPr marL="0" lv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Baskerville Old Face" panose="02020602080505020303" pitchFamily="18" charset="0"/>
                        </a:rPr>
                        <a:t>Sold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DIVIDE([# Sold],[Fixed_Total_Units],0)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49785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5812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497C2-83A5-DC53-B04E-9D9203085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10F973-C965-350C-093B-E31DEAAAD9AD}"/>
              </a:ext>
            </a:extLst>
          </p:cNvPr>
          <p:cNvSpPr txBox="1"/>
          <p:nvPr/>
        </p:nvSpPr>
        <p:spPr>
          <a:xfrm>
            <a:off x="1122589" y="287111"/>
            <a:ext cx="99468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Stage 4 : DAX Business Logic &amp; Measures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774C42-6132-A6C0-2552-2ECD06F047AD}"/>
              </a:ext>
            </a:extLst>
          </p:cNvPr>
          <p:cNvSpPr txBox="1"/>
          <p:nvPr/>
        </p:nvSpPr>
        <p:spPr>
          <a:xfrm>
            <a:off x="1194318" y="1156996"/>
            <a:ext cx="32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Collection Measures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EE5ACE9-1B8C-7525-1671-630B614EAA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122292"/>
              </p:ext>
            </p:extLst>
          </p:nvPr>
        </p:nvGraphicFramePr>
        <p:xfrm>
          <a:off x="339010" y="1842215"/>
          <a:ext cx="11513977" cy="4054732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693439">
                  <a:extLst>
                    <a:ext uri="{9D8B030D-6E8A-4147-A177-3AD203B41FA5}">
                      <a16:colId xmlns:a16="http://schemas.microsoft.com/office/drawing/2014/main" val="1167769208"/>
                    </a:ext>
                  </a:extLst>
                </a:gridCol>
                <a:gridCol w="2136711">
                  <a:extLst>
                    <a:ext uri="{9D8B030D-6E8A-4147-A177-3AD203B41FA5}">
                      <a16:colId xmlns:a16="http://schemas.microsoft.com/office/drawing/2014/main" val="2955908586"/>
                    </a:ext>
                  </a:extLst>
                </a:gridCol>
                <a:gridCol w="2146040">
                  <a:extLst>
                    <a:ext uri="{9D8B030D-6E8A-4147-A177-3AD203B41FA5}">
                      <a16:colId xmlns:a16="http://schemas.microsoft.com/office/drawing/2014/main" val="3188973489"/>
                    </a:ext>
                  </a:extLst>
                </a:gridCol>
                <a:gridCol w="2223027">
                  <a:extLst>
                    <a:ext uri="{9D8B030D-6E8A-4147-A177-3AD203B41FA5}">
                      <a16:colId xmlns:a16="http://schemas.microsoft.com/office/drawing/2014/main" val="2781261294"/>
                    </a:ext>
                  </a:extLst>
                </a:gridCol>
                <a:gridCol w="2314760">
                  <a:extLst>
                    <a:ext uri="{9D8B030D-6E8A-4147-A177-3AD203B41FA5}">
                      <a16:colId xmlns:a16="http://schemas.microsoft.com/office/drawing/2014/main" val="3360785474"/>
                    </a:ext>
                  </a:extLst>
                </a:gridCol>
              </a:tblGrid>
              <a:tr h="4941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Baskerville Old Face" panose="02020602080505020303" pitchFamily="18" charset="0"/>
                        </a:rPr>
                        <a:t>Issued Invoices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9F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Baskerville Old Face" panose="02020602080505020303" pitchFamily="18" charset="0"/>
                        </a:rPr>
                        <a:t>Collected Invoices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9F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Baskerville Old Face" panose="02020602080505020303" pitchFamily="18" charset="0"/>
                        </a:rPr>
                        <a:t>Outstanding Invoices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9F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Baskerville Old Face" panose="02020602080505020303" pitchFamily="18" charset="0"/>
                        </a:rPr>
                        <a:t>Collection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9F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Baskerville Old Face" panose="02020602080505020303" pitchFamily="18" charset="0"/>
                        </a:rPr>
                        <a:t>Outstanding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9F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940689"/>
                  </a:ext>
                </a:extLst>
              </a:tr>
              <a:tr h="3560623">
                <a:tc>
                  <a:txBody>
                    <a:bodyPr/>
                    <a:lstStyle/>
                    <a:p>
                      <a:pPr algn="l"/>
                      <a:r>
                        <a:rPr lang="en-US" sz="16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COALESCE(</a:t>
                      </a:r>
                    </a:p>
                    <a:p>
                      <a:pPr algn="l"/>
                      <a:r>
                        <a:rPr lang="en-US" sz="16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CALCULATE (</a:t>
                      </a:r>
                    </a:p>
                    <a:p>
                      <a:pPr algn="l"/>
                      <a:r>
                        <a:rPr lang="en-US" sz="16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    COUNTROWS ( FactInstallments ),</a:t>
                      </a:r>
                    </a:p>
                    <a:p>
                      <a:pPr algn="l"/>
                      <a:r>
                        <a:rPr lang="en-US" sz="16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    FactInstallments[Installment_State]</a:t>
                      </a:r>
                    </a:p>
                    <a:p>
                      <a:pPr algn="l"/>
                      <a:r>
                        <a:rPr lang="en-US" sz="16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        IN {</a:t>
                      </a:r>
                    </a:p>
                    <a:p>
                      <a:pPr algn="l"/>
                      <a:r>
                        <a:rPr lang="en-US" sz="16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            "PAID",</a:t>
                      </a:r>
                    </a:p>
                    <a:p>
                      <a:pPr algn="l"/>
                      <a:r>
                        <a:rPr lang="en-US" sz="16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            "DUE - NOT PAID"</a:t>
                      </a:r>
                    </a:p>
                    <a:p>
                      <a:pPr algn="l"/>
                      <a:r>
                        <a:rPr lang="en-US" sz="16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        }</a:t>
                      </a:r>
                    </a:p>
                    <a:p>
                      <a:pPr algn="l"/>
                      <a:r>
                        <a:rPr lang="en-US" sz="16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),0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6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Baskerville Old Face" panose="020206020805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COALESCE(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CALCULATE (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    COUNTROWS ( FactInstallments ),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    FactInstallments[Installment_State] = "PAID"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),0)</a:t>
                      </a:r>
                    </a:p>
                    <a:p>
                      <a:pPr algn="ctr"/>
                      <a:endParaRPr lang="en-US" sz="1600" b="0" kern="1200" dirty="0">
                        <a:solidFill>
                          <a:schemeClr val="tx1"/>
                        </a:solidFill>
                        <a:effectLst/>
                        <a:latin typeface="Baskerville Old Face" panose="020206020805050203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[Issued Invoices] - [Collected Invoices]</a:t>
                      </a:r>
                    </a:p>
                    <a:p>
                      <a:pPr algn="ctr"/>
                      <a:endParaRPr lang="en-US" sz="1600" b="0" kern="1200" dirty="0">
                        <a:solidFill>
                          <a:schemeClr val="tx1"/>
                        </a:solidFill>
                        <a:effectLst/>
                        <a:latin typeface="Baskerville Old Face" panose="020206020805050203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DIVIDE (</a:t>
                      </a:r>
                    </a:p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    [Collected Invoices],</a:t>
                      </a:r>
                    </a:p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    [Issued Invoices],</a:t>
                      </a:r>
                    </a:p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    0</a:t>
                      </a:r>
                    </a:p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ctr"/>
                      <a:endParaRPr lang="en-US" sz="1600" b="0" kern="1200" dirty="0">
                        <a:solidFill>
                          <a:schemeClr val="tx1"/>
                        </a:solidFill>
                        <a:effectLst/>
                        <a:latin typeface="Baskerville Old Face" panose="020206020805050203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DIVIDE (</a:t>
                      </a:r>
                    </a:p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    [Outstanding Invoices],</a:t>
                      </a:r>
                    </a:p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    [Issued Invoices],</a:t>
                      </a:r>
                    </a:p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    0</a:t>
                      </a:r>
                    </a:p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b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sz="1600" b="0" kern="1200" dirty="0">
                        <a:solidFill>
                          <a:schemeClr val="tx1"/>
                        </a:solidFill>
                        <a:effectLst/>
                        <a:latin typeface="Baskerville Old Face" panose="020206020805050203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4759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1392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551F4-B509-E342-AA7B-80F677D35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676369-A774-4FF8-1BD5-4B1A7C0C445C}"/>
              </a:ext>
            </a:extLst>
          </p:cNvPr>
          <p:cNvSpPr txBox="1"/>
          <p:nvPr/>
        </p:nvSpPr>
        <p:spPr>
          <a:xfrm>
            <a:off x="1122589" y="287111"/>
            <a:ext cx="99468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Stage 4 : DAX Business Logic &amp; Measures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1FC661-E187-266B-ABF9-D52EA4F85081}"/>
              </a:ext>
            </a:extLst>
          </p:cNvPr>
          <p:cNvSpPr txBox="1"/>
          <p:nvPr/>
        </p:nvSpPr>
        <p:spPr>
          <a:xfrm>
            <a:off x="1194318" y="1156996"/>
            <a:ext cx="32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Amount Measures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CF35A62-1832-DE64-9C60-C3141B1AA1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9889105"/>
              </p:ext>
            </p:extLst>
          </p:nvPr>
        </p:nvGraphicFramePr>
        <p:xfrm>
          <a:off x="681135" y="1842215"/>
          <a:ext cx="11103429" cy="4054732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212672">
                  <a:extLst>
                    <a:ext uri="{9D8B030D-6E8A-4147-A177-3AD203B41FA5}">
                      <a16:colId xmlns:a16="http://schemas.microsoft.com/office/drawing/2014/main" val="1167769208"/>
                    </a:ext>
                  </a:extLst>
                </a:gridCol>
                <a:gridCol w="3475081">
                  <a:extLst>
                    <a:ext uri="{9D8B030D-6E8A-4147-A177-3AD203B41FA5}">
                      <a16:colId xmlns:a16="http://schemas.microsoft.com/office/drawing/2014/main" val="2955908586"/>
                    </a:ext>
                  </a:extLst>
                </a:gridCol>
                <a:gridCol w="3415676">
                  <a:extLst>
                    <a:ext uri="{9D8B030D-6E8A-4147-A177-3AD203B41FA5}">
                      <a16:colId xmlns:a16="http://schemas.microsoft.com/office/drawing/2014/main" val="3188973489"/>
                    </a:ext>
                  </a:extLst>
                </a:gridCol>
              </a:tblGrid>
              <a:tr h="494109">
                <a:tc>
                  <a:txBody>
                    <a:bodyPr/>
                    <a:lstStyle/>
                    <a:p>
                      <a:pPr marL="0" lv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Baskerville Old Face" panose="02020602080505020303" pitchFamily="18" charset="0"/>
                        </a:rPr>
                        <a:t>Invoiced Amount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9F7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Baskerville Old Face" panose="02020602080505020303" pitchFamily="18" charset="0"/>
                        </a:rPr>
                        <a:t>Collected Amount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9F7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Baskerville Old Face" panose="02020602080505020303" pitchFamily="18" charset="0"/>
                        </a:rPr>
                        <a:t>Outstanding Amount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9F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940689"/>
                  </a:ext>
                </a:extLst>
              </a:tr>
              <a:tr h="3560623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[Collected Amount] + [Outstanding Amount]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6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Baskerville Old Face" panose="020206020805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COALESCE(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CALCULATE (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    SUM ( FactInstallments[Installment Amount] ),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    FactInstallments[Installment_State] = "PAID"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),0)</a:t>
                      </a:r>
                    </a:p>
                    <a:p>
                      <a:pPr algn="ctr"/>
                      <a:endParaRPr lang="en-US" sz="1600" b="0" kern="1200" dirty="0">
                        <a:solidFill>
                          <a:schemeClr val="tx1"/>
                        </a:solidFill>
                        <a:effectLst/>
                        <a:latin typeface="Baskerville Old Face" panose="020206020805050203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COALESCE(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CALCULATE (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    SUM ( FactInstallments[Installment Amount] ),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    FactInstallments[Installment_State] = "DUE - NOT PAID"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),0)</a:t>
                      </a:r>
                    </a:p>
                    <a:p>
                      <a:b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4759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2021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678CB-4515-CBFA-0BFB-4B8B7E0F6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4B33DA-F520-E59E-3968-8E1AD177D0F5}"/>
              </a:ext>
            </a:extLst>
          </p:cNvPr>
          <p:cNvSpPr txBox="1"/>
          <p:nvPr/>
        </p:nvSpPr>
        <p:spPr>
          <a:xfrm>
            <a:off x="1122589" y="287111"/>
            <a:ext cx="99468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Stage 4 : DAX Business Logic &amp; Measures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528DB8-2D1B-F966-C29F-D94C0A7F1F84}"/>
              </a:ext>
            </a:extLst>
          </p:cNvPr>
          <p:cNvSpPr txBox="1"/>
          <p:nvPr/>
        </p:nvSpPr>
        <p:spPr>
          <a:xfrm>
            <a:off x="1194318" y="1156996"/>
            <a:ext cx="32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Project Measures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F8C9D4A-1D86-C006-58F2-68CE0BD9D9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3787661"/>
              </p:ext>
            </p:extLst>
          </p:nvPr>
        </p:nvGraphicFramePr>
        <p:xfrm>
          <a:off x="3599282" y="2018876"/>
          <a:ext cx="4993434" cy="282024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993434">
                  <a:extLst>
                    <a:ext uri="{9D8B030D-6E8A-4147-A177-3AD203B41FA5}">
                      <a16:colId xmlns:a16="http://schemas.microsoft.com/office/drawing/2014/main" val="1167769208"/>
                    </a:ext>
                  </a:extLst>
                </a:gridCol>
              </a:tblGrid>
              <a:tr h="340610"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Baskerville Old Face" panose="02020602080505020303" pitchFamily="18" charset="0"/>
                        </a:rPr>
                        <a:t>Project Completion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9F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940689"/>
                  </a:ext>
                </a:extLst>
              </a:tr>
              <a:tr h="2454488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COALESCE(AVERAGE('FactSales'[POC]), 0)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6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Baskerville Old Face" panose="020206020805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4759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871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3E074-A965-C6F7-F241-3D891970C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ACC05F-EC59-8CC6-9EB5-D01E6A16543F}"/>
              </a:ext>
            </a:extLst>
          </p:cNvPr>
          <p:cNvSpPr txBox="1"/>
          <p:nvPr/>
        </p:nvSpPr>
        <p:spPr>
          <a:xfrm>
            <a:off x="1122589" y="287111"/>
            <a:ext cx="99468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Stage 4 : DAX Business Logic &amp; Measures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7CB99D-8293-1408-4568-5E981B67D044}"/>
              </a:ext>
            </a:extLst>
          </p:cNvPr>
          <p:cNvSpPr txBox="1"/>
          <p:nvPr/>
        </p:nvSpPr>
        <p:spPr>
          <a:xfrm>
            <a:off x="1194318" y="1156996"/>
            <a:ext cx="32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Time Analysis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D4AB34-B739-D35B-B402-1C67D7E034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995542"/>
              </p:ext>
            </p:extLst>
          </p:nvPr>
        </p:nvGraphicFramePr>
        <p:xfrm>
          <a:off x="811764" y="1680216"/>
          <a:ext cx="10425792" cy="476900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12896">
                  <a:extLst>
                    <a:ext uri="{9D8B030D-6E8A-4147-A177-3AD203B41FA5}">
                      <a16:colId xmlns:a16="http://schemas.microsoft.com/office/drawing/2014/main" val="1167769208"/>
                    </a:ext>
                  </a:extLst>
                </a:gridCol>
                <a:gridCol w="5212896">
                  <a:extLst>
                    <a:ext uri="{9D8B030D-6E8A-4147-A177-3AD203B41FA5}">
                      <a16:colId xmlns:a16="http://schemas.microsoft.com/office/drawing/2014/main" val="2476321295"/>
                    </a:ext>
                  </a:extLst>
                </a:gridCol>
              </a:tblGrid>
              <a:tr h="440840">
                <a:tc>
                  <a:txBody>
                    <a:bodyPr/>
                    <a:lstStyle/>
                    <a:p>
                      <a:pPr marL="0" lv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Baskerville Old Face" panose="02020602080505020303" pitchFamily="18" charset="0"/>
                        </a:rPr>
                        <a:t>Old Records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9F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Baskerville Old Face" panose="02020602080505020303" pitchFamily="18" charset="0"/>
                        </a:rPr>
                        <a:t>New Records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9F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940689"/>
                  </a:ext>
                </a:extLst>
              </a:tr>
              <a:tr h="3497733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COALESCE(</a:t>
                      </a:r>
                    </a:p>
                    <a:p>
                      <a:pPr algn="ctr"/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VAR StartDate =</a:t>
                      </a:r>
                    </a:p>
                    <a:p>
                      <a:pPr algn="ctr"/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    [Selected Start Date]</a:t>
                      </a:r>
                    </a:p>
                    <a:p>
                      <a:pPr algn="ctr"/>
                      <a:endParaRPr lang="en-US" sz="1400" b="0" kern="1200" dirty="0">
                        <a:solidFill>
                          <a:schemeClr val="dk1"/>
                        </a:solidFill>
                        <a:effectLst/>
                        <a:latin typeface="Baskerville Old Face" panose="02020602080505020303" pitchFamily="18" charset="0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RETURN</a:t>
                      </a:r>
                    </a:p>
                    <a:p>
                      <a:pPr algn="ctr"/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CALCULATE(</a:t>
                      </a:r>
                    </a:p>
                    <a:p>
                      <a:pPr algn="ctr"/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    COUNTROWS('DimCustomer'),</a:t>
                      </a:r>
                    </a:p>
                    <a:p>
                      <a:pPr algn="ctr"/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    REMOVEFILTERS('DimDate'),</a:t>
                      </a:r>
                    </a:p>
                    <a:p>
                      <a:pPr algn="ctr"/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    FILTER(</a:t>
                      </a:r>
                    </a:p>
                    <a:p>
                      <a:pPr algn="ctr"/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        'FactInstallments',</a:t>
                      </a:r>
                    </a:p>
                    <a:p>
                      <a:pPr algn="ctr"/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        'FactInstallments'[Date] &lt; StartDate</a:t>
                      </a:r>
                    </a:p>
                    <a:p>
                      <a:pPr algn="ctr"/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    )</a:t>
                      </a:r>
                    </a:p>
                    <a:p>
                      <a:pPr algn="ctr"/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),0)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Baskerville Old Face" panose="020206020805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COALESCE(</a:t>
                      </a:r>
                    </a:p>
                    <a:p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VAR StartDate =</a:t>
                      </a:r>
                    </a:p>
                    <a:p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    [Selected Start Date]</a:t>
                      </a:r>
                    </a:p>
                    <a:p>
                      <a:b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</a:br>
                      <a:endParaRPr lang="en-US" sz="1400" b="0" kern="1200" dirty="0">
                        <a:solidFill>
                          <a:schemeClr val="dk1"/>
                        </a:solidFill>
                        <a:effectLst/>
                        <a:latin typeface="Baskerville Old Face" panose="02020602080505020303" pitchFamily="18" charset="0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VAR EndDate =</a:t>
                      </a:r>
                    </a:p>
                    <a:p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    [Selected End Date]</a:t>
                      </a:r>
                    </a:p>
                    <a:p>
                      <a:b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</a:br>
                      <a:endParaRPr lang="en-US" sz="1400" b="0" kern="1200" dirty="0">
                        <a:solidFill>
                          <a:schemeClr val="dk1"/>
                        </a:solidFill>
                        <a:effectLst/>
                        <a:latin typeface="Baskerville Old Face" panose="02020602080505020303" pitchFamily="18" charset="0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RETURN</a:t>
                      </a:r>
                    </a:p>
                    <a:p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CALCULATE(</a:t>
                      </a:r>
                    </a:p>
                    <a:p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    COUNTROWS('DimCustomer'),</a:t>
                      </a:r>
                    </a:p>
                    <a:p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    REMOVEFILTERS('DimDate'),</a:t>
                      </a:r>
                    </a:p>
                    <a:p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    FILTER(</a:t>
                      </a:r>
                    </a:p>
                    <a:p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        'FactInstallments',</a:t>
                      </a:r>
                    </a:p>
                    <a:p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        'FactInstallments'[Date] &gt;= StartDate</a:t>
                      </a:r>
                    </a:p>
                    <a:p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            &amp;&amp; 'FactInstallments'[Date] &lt;= EndDate</a:t>
                      </a:r>
                    </a:p>
                    <a:p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    )</a:t>
                      </a:r>
                    </a:p>
                    <a:p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),0)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Baskerville Old Face" panose="020206020805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4759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1132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EED61-1B5F-409B-0817-A56876D6F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DB2F6C-C765-4729-1A9E-7751055A101B}"/>
              </a:ext>
            </a:extLst>
          </p:cNvPr>
          <p:cNvSpPr txBox="1"/>
          <p:nvPr/>
        </p:nvSpPr>
        <p:spPr>
          <a:xfrm>
            <a:off x="1122589" y="287111"/>
            <a:ext cx="99468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Stage 5 : Report Architecture &amp; UI/UX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6B440A-BEC6-C5BD-9D7E-0B8D44AA34E1}"/>
              </a:ext>
            </a:extLst>
          </p:cNvPr>
          <p:cNvSpPr txBox="1"/>
          <p:nvPr/>
        </p:nvSpPr>
        <p:spPr>
          <a:xfrm>
            <a:off x="452436" y="1089164"/>
            <a:ext cx="1128712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Report Architecture &amp; UI/UX Design</a:t>
            </a:r>
          </a:p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The Power BI report was designed to provide simple navigation from the overall portfolio view to individual project details.</a:t>
            </a:r>
          </a:p>
          <a:p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skerville Old Face" panose="02020602080505020303" pitchFamily="18" charset="0"/>
            </a:endParaRPr>
          </a:p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Report Structure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Home Page: Main navigation for the report.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Global Summary: Overall performance across all projects.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Collection By Date Summary: Old vs New collection analysis.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Project Overall Page: Full installment performance.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Project Cash Page: Collection analysis for Cash customers.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Project Bank Page: Collection analysis for bank-financed customers.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Bank-wise Page: Analysis by individual bank.</a:t>
            </a:r>
          </a:p>
          <a:p>
            <a:pPr lvl="0"/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skerville Old Face" panose="02020602080505020303" pitchFamily="18" charset="0"/>
            </a:endParaRPr>
          </a:p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UI/UX Principles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Consistent page layout across the report.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Clear KPI cards for important metrics.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Simple navigation buttons.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Home button on analytical pages.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Consistent titles and KPI order.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Project Completion % and No. of Units displayed on project pages.</a:t>
            </a:r>
          </a:p>
          <a:p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490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77B2E-3197-BB76-8EA4-4CCB369E6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B16ED8-338A-E0DB-252B-19B3A8ED1B3B}"/>
              </a:ext>
            </a:extLst>
          </p:cNvPr>
          <p:cNvSpPr txBox="1"/>
          <p:nvPr/>
        </p:nvSpPr>
        <p:spPr>
          <a:xfrm>
            <a:off x="1122589" y="287111"/>
            <a:ext cx="99468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Stage 6 : Insights &amp; Recommendations</a:t>
            </a:r>
          </a:p>
          <a:p>
            <a:pPr algn="ctr"/>
            <a:endParaRPr lang="en-US" sz="4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skerville Old Face" panose="020206020805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E2B2E2-04D5-FBBE-9F1F-BA63C76FC189}"/>
              </a:ext>
            </a:extLst>
          </p:cNvPr>
          <p:cNvSpPr txBox="1"/>
          <p:nvPr/>
        </p:nvSpPr>
        <p:spPr>
          <a:xfrm>
            <a:off x="452436" y="1102578"/>
            <a:ext cx="11287125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1. Strong Overall Collection Performance</a:t>
            </a:r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skerville Old Face" panose="020206020805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Insight:</a:t>
            </a:r>
            <a:b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</a:b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Across the 8 projects, </a:t>
            </a: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3,088 units</a:t>
            </a: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 were sold with a total sold-unit value of approximately </a:t>
            </a: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EGP 18.64B</a:t>
            </a: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. The dashboard shows </a:t>
            </a: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EGP 13.88B in invoiced amounts</a:t>
            </a: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, of which </a:t>
            </a: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EGP 13.09B has been collected</a:t>
            </a: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. This gives an overall collection rate of approximately </a:t>
            </a: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94.3% by amount</a:t>
            </a: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, while the remaining outstanding balance is about </a:t>
            </a: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EGP 791.0M</a:t>
            </a: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Recommendation:</a:t>
            </a:r>
            <a:b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</a:b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Management should maintain the current collection follow-up process while giving special attention to the remaining </a:t>
            </a: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EGP 791.0M</a:t>
            </a: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 outstanding balance.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Business Value:</a:t>
            </a:r>
            <a:b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</a:b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This gives management a clear view of the portfolio's overall collection position.</a:t>
            </a:r>
          </a:p>
          <a:p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skerville Old Face" panose="02020602080505020303" pitchFamily="18" charset="0"/>
            </a:endParaRPr>
          </a:p>
          <a:p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2. Outstanding Balance Is Concentrated in Three Projects</a:t>
            </a:r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skerville Old Face" panose="02020602080505020303" pitchFamily="18" charset="0"/>
            </a:endParaRPr>
          </a:p>
          <a:p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Insight:</a:t>
            </a:r>
            <a:b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</a:b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The total outstanding balance is approximately </a:t>
            </a: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EGP 791.0M</a:t>
            </a: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. Three projects account for about </a:t>
            </a: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60.2%</a:t>
            </a: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 of this amount:</a:t>
            </a:r>
          </a:p>
          <a:p>
            <a:pPr lvl="0"/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Skyline </a:t>
            </a:r>
            <a:r>
              <a:rPr lang="en-US" sz="1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Katamya</a:t>
            </a: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 Compound:</a:t>
            </a: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 EGP </a:t>
            </a: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198.0M</a:t>
            </a: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 </a:t>
            </a:r>
          </a:p>
          <a:p>
            <a:pPr lvl="0"/>
            <a:r>
              <a:rPr lang="en-US" sz="1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Degla</a:t>
            </a: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 Landmark:</a:t>
            </a: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 EGP </a:t>
            </a: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155.2M</a:t>
            </a: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 </a:t>
            </a:r>
          </a:p>
          <a:p>
            <a:pPr lvl="0"/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One </a:t>
            </a:r>
            <a:r>
              <a:rPr lang="en-US" sz="1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Kattameya</a:t>
            </a: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 Compound:</a:t>
            </a: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 EGP </a:t>
            </a: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122.8M</a:t>
            </a: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 </a:t>
            </a:r>
          </a:p>
          <a:p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Together, these three projects represent approximately </a:t>
            </a: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EGP 476.0M</a:t>
            </a: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 of the total outstanding balance.</a:t>
            </a:r>
          </a:p>
          <a:p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Recommendation:</a:t>
            </a:r>
            <a:b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</a:b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Management should give these projects closer collection monitoring and review their outstanding installments regularly.</a:t>
            </a:r>
          </a:p>
          <a:p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Business Value:</a:t>
            </a:r>
            <a:b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</a:b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Focusing on the projects with the largest outstanding balances can help management monitor the largest collection exposures.</a:t>
            </a:r>
          </a:p>
          <a:p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938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412A5-7FC3-8779-04E5-A941B3C11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6694AC-FC13-FC65-D804-F489E22D22C3}"/>
              </a:ext>
            </a:extLst>
          </p:cNvPr>
          <p:cNvSpPr txBox="1"/>
          <p:nvPr/>
        </p:nvSpPr>
        <p:spPr>
          <a:xfrm>
            <a:off x="1122589" y="287111"/>
            <a:ext cx="99468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Stage 6 : Insights &amp; Recommendations</a:t>
            </a:r>
          </a:p>
          <a:p>
            <a:pPr algn="ctr"/>
            <a:endParaRPr lang="en-US" sz="4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skerville Old Face" panose="020206020805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636401-6769-CD0F-125F-AED1AF02A071}"/>
              </a:ext>
            </a:extLst>
          </p:cNvPr>
          <p:cNvSpPr txBox="1"/>
          <p:nvPr/>
        </p:nvSpPr>
        <p:spPr>
          <a:xfrm>
            <a:off x="452436" y="1294063"/>
            <a:ext cx="11287125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3. Installment 7 Has the Largest Collection Gap</a:t>
            </a:r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skerville Old Face" panose="020206020805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Insight:</a:t>
            </a:r>
            <a:b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</a:b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Installment 7 shows a major collection gap. Out of approximately </a:t>
            </a: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EGP 158.7M</a:t>
            </a: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 issued for this installment, only </a:t>
            </a: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EGP 3.35M</a:t>
            </a: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 has been collected, leaving around </a:t>
            </a: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EGP 155.4M outstanding</a:t>
            </a: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.</a:t>
            </a:r>
          </a:p>
          <a:p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The collection rate for Installment 7 is only about </a:t>
            </a: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2.1%</a:t>
            </a: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, compared with much higher rates for the earlier installments.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Recommendation:</a:t>
            </a:r>
            <a:b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</a:b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The collection team should closely monitor Installment 7 and follow up on unpaid amounts as they become due.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Business Value:</a:t>
            </a:r>
            <a:b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</a:b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Installment 7 represents the largest installment-level outstanding exposure in the portfolio.</a:t>
            </a:r>
          </a:p>
          <a:p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skerville Old Face" panose="02020602080505020303" pitchFamily="18" charset="0"/>
            </a:endParaRPr>
          </a:p>
          <a:p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4. Installments 4 and 5 Also Need Collection Monitoring</a:t>
            </a:r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skerville Old Face" panose="020206020805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Insight:</a:t>
            </a:r>
            <a:b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</a:b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Collection performance decreases in the later installment stages. Installment 4 has a collection rate of about </a:t>
            </a: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92.0%</a:t>
            </a: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, while Installment 5 is about </a:t>
            </a: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92.5%</a:t>
            </a: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. Their outstanding balances are approximately </a:t>
            </a: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EGP 175.3M</a:t>
            </a: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 and </a:t>
            </a: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EGP 110.9M</a:t>
            </a: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, respectively.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Recommendation:</a:t>
            </a:r>
            <a:b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</a:b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Management should increase follow-up for later installments, especially Installments 4 and 5, before unpaid balances become larger.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Business Value:</a:t>
            </a:r>
            <a:b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</a:b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The analysis shows that collection attention should not focus only on the first installments.</a:t>
            </a:r>
          </a:p>
          <a:p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skerville Old Face" panose="02020602080505020303" pitchFamily="18" charset="0"/>
            </a:endParaRPr>
          </a:p>
          <a:p>
            <a:endParaRPr lang="en-US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2715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36875-B782-5EBB-7518-EE016A1F0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C33895-1D16-3175-9147-D40BFD0084FE}"/>
              </a:ext>
            </a:extLst>
          </p:cNvPr>
          <p:cNvSpPr txBox="1"/>
          <p:nvPr/>
        </p:nvSpPr>
        <p:spPr>
          <a:xfrm>
            <a:off x="1122589" y="287111"/>
            <a:ext cx="99468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Stage 6 : Insights &amp; Recommendations</a:t>
            </a:r>
          </a:p>
          <a:p>
            <a:pPr algn="ctr"/>
            <a:endParaRPr lang="en-US" sz="4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skerville Old Face" panose="020206020805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0C0654-7DD9-70A6-04B3-99CB44A5D113}"/>
              </a:ext>
            </a:extLst>
          </p:cNvPr>
          <p:cNvSpPr txBox="1"/>
          <p:nvPr/>
        </p:nvSpPr>
        <p:spPr>
          <a:xfrm>
            <a:off x="452436" y="1294063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6. Outstanding Bank Exposure Is Concentrated in Two Banks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skerville Old Face" panose="02020602080505020303" pitchFamily="18" charset="0"/>
            </a:endParaRPr>
          </a:p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Insight:</a:t>
            </a:r>
            <a:b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</a:b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Within the bank-financed portfolio, 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Banque Misr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 has approximately 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EGP 152.2M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 outstanding, while 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National Bank of Egypt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 has approximately 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EGP 150.7M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 outstanding.</a:t>
            </a:r>
          </a:p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Together, these two banks represent around 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58.0% of the total bank outstanding balance of EGP 521.9M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.</a:t>
            </a:r>
          </a:p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Recommendation:</a:t>
            </a:r>
            <a:b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</a:b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Management should regularly monitor outstanding balances by bank and strengthen follow-up for the banks with larger outstanding exposure.</a:t>
            </a:r>
          </a:p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Business Value:</a:t>
            </a:r>
            <a:b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</a:b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Bank-wise analysis helps identify where a large part of the financed outstanding balance is concentrated.</a:t>
            </a:r>
            <a:endParaRPr lang="en-US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367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71B38-2AAB-AEF4-DA50-F562312E2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336D97-5BAB-8A97-BA5C-3B29507C1495}"/>
              </a:ext>
            </a:extLst>
          </p:cNvPr>
          <p:cNvSpPr txBox="1"/>
          <p:nvPr/>
        </p:nvSpPr>
        <p:spPr>
          <a:xfrm>
            <a:off x="980394" y="1536174"/>
            <a:ext cx="10231211" cy="1862048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1500" b="1" spc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anose="020B0903020102020204" pitchFamily="34" charset="0"/>
              </a:rPr>
              <a:t>THANK YOU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ECC3A6-D98C-F1F5-36A2-7E8DE0E53B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0" y="3540652"/>
            <a:ext cx="2343151" cy="1781174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A40EDD-4FE9-9ABD-DB10-37897B7B12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025" y="3740687"/>
            <a:ext cx="3733800" cy="1469487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357474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</TotalTime>
  <Words>1923</Words>
  <Application>Microsoft Office PowerPoint</Application>
  <PresentationFormat>Widescreen</PresentationFormat>
  <Paragraphs>324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Baskerville Old Face</vt:lpstr>
      <vt:lpstr>Brush Script MT</vt:lpstr>
      <vt:lpstr>Calibri</vt:lpstr>
      <vt:lpstr>Calibri Light</vt:lpstr>
      <vt:lpstr>Franklin Gothic Heavy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Magdy Mahmoud</dc:creator>
  <cp:lastModifiedBy>ji 32387</cp:lastModifiedBy>
  <cp:revision>9</cp:revision>
  <dcterms:created xsi:type="dcterms:W3CDTF">2026-09-18T15:39:40Z</dcterms:created>
  <dcterms:modified xsi:type="dcterms:W3CDTF">2026-09-30T14:48:58Z</dcterms:modified>
</cp:coreProperties>
</file>